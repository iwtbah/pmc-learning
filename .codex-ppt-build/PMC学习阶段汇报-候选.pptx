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8f0bf5d5094b74" /><Relationship Type="http://schemas.openxmlformats.org/officeDocument/2006/relationships/extended-properties" Target="/docProps/app.xml" Id="Rf01cba2755d1459e" /><Relationship Type="http://schemas.openxmlformats.org/officeDocument/2006/relationships/officeDocument" Target="/ppt/presentation.xml" Id="Rd44dd5e620ce40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6a9c0b12f045c0"/>
  </p:sldMasterIdLst>
  <p:notesMasterIdLst>
    <p:notesMasterId xmlns:r="http://schemas.openxmlformats.org/officeDocument/2006/relationships" r:id="Ref3b614cf75b4e98"/>
  </p:notesMasterIdLst>
  <p:sldIdLst>
    <p:sldId xmlns:r="http://schemas.openxmlformats.org/officeDocument/2006/relationships" id="256" r:id="Rfaf2a932f4794a15"/>
    <p:sldId xmlns:r="http://schemas.openxmlformats.org/officeDocument/2006/relationships" id="257" r:id="R014a4d1506994fc0"/>
    <p:sldId xmlns:r="http://schemas.openxmlformats.org/officeDocument/2006/relationships" id="258" r:id="R2bf1eb52f9bc4fd1"/>
    <p:sldId xmlns:r="http://schemas.openxmlformats.org/officeDocument/2006/relationships" id="259" r:id="R353c98c275b24fbe"/>
    <p:sldId xmlns:r="http://schemas.openxmlformats.org/officeDocument/2006/relationships" id="260" r:id="R8970914fd66c47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c1e9f8850a41de" /><Relationship Type="http://schemas.openxmlformats.org/officeDocument/2006/relationships/slideMaster" Target="/ppt/slideMasters/slideMaster1.xml" Id="Rf26a9c0b12f045c0" /><Relationship Type="http://schemas.openxmlformats.org/officeDocument/2006/relationships/notesMaster" Target="/ppt/notesMasters/notesMaster1.xml" Id="Ref3b614cf75b4e98" /><Relationship Type="http://schemas.openxmlformats.org/officeDocument/2006/relationships/presProps" Target="/ppt/presProps.xml" Id="R9a81e7fb4d154275" /><Relationship Type="http://schemas.openxmlformats.org/officeDocument/2006/relationships/tableStyles" Target="/ppt/tableStyles.xml" Id="Rb579ca95860140ae" /><Relationship Type="http://schemas.openxmlformats.org/officeDocument/2006/relationships/slide" Target="/ppt/slides/slide1.xml" Id="Rfaf2a932f4794a15" /><Relationship Type="http://schemas.openxmlformats.org/officeDocument/2006/relationships/slide" Target="/ppt/slides/slide2.xml" Id="R014a4d1506994fc0" /><Relationship Type="http://schemas.openxmlformats.org/officeDocument/2006/relationships/slide" Target="/ppt/slides/slide3.xml" Id="R2bf1eb52f9bc4fd1" /><Relationship Type="http://schemas.openxmlformats.org/officeDocument/2006/relationships/slide" Target="/ppt/slides/slide4.xml" Id="R353c98c275b24fbe" /><Relationship Type="http://schemas.openxmlformats.org/officeDocument/2006/relationships/slide" Target="/ppt/slides/slide5.xml" Id="R8970914fd66c47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8c027498a646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bd87fcdb964665" /><Relationship Type="http://schemas.openxmlformats.org/officeDocument/2006/relationships/notesMaster" Target="/ppt/notesMasters/notesMaster1.xml" Id="Rb9d515c97d3946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f878d052de4cea" /><Relationship Type="http://schemas.openxmlformats.org/officeDocument/2006/relationships/notesMaster" Target="/ppt/notesMasters/notesMaster1.xml" Id="R910996cb88d841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d83a4883c14816" /><Relationship Type="http://schemas.openxmlformats.org/officeDocument/2006/relationships/notesMaster" Target="/ppt/notesMasters/notesMaster1.xml" Id="Rcc945098de6245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108b08b3ca4a3f" /><Relationship Type="http://schemas.openxmlformats.org/officeDocument/2006/relationships/notesMaster" Target="/ppt/notesMasters/notesMaster1.xml" Id="Raed3f4406f9b4f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1f7ac1233d466a" /><Relationship Type="http://schemas.openxmlformats.org/officeDocument/2006/relationships/notesMaster" Target="/ppt/notesMasters/notesMaster1.xml" Id="R0adb060d8ff449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汇报依据：工作区《学习目标与计划.md》《学习进度.md》，以及用户指定的阶段汇报大纲。业务背景为汽车线束教学模拟案例，不代表真实企业项目。汇报人为待填写项。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《学习目标与计划.md》第3节课程安排；《学习进度.md》当前学习位置与各章总览。8周是总体规划，不代表已耗时8周。6÷15=40%，仅计算接触过的章节范围。当前为6.6，6.1～6.6框架已讲解，综合练习尚未开展。第4、5章整章验证亦未完成。阶段三的综合项目属于课程最终实践，不额外计入15章。S&amp;OP：销售与运营计划（Sales &amp; Operations Planning）；MPS：主生产计划（Master Production Schedule）；MRP：物料需求计划（Material Requirements Planning）。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《学习目标与计划.md》第4节01～06模块；《学习进度.md》01～06章学习状态。此页表述学习范围和逐步形成的认知，不代表全部章节已完成独立验证或具备独立业务实操能力。贯穿案例为汽车线束制造教学模拟案例。PMC：生产与物料控制（Production &amp; Material Control）；BOM：物料清单（Bill of Materials）；提前期（Lead Time）。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用户给定的AI学习与探索方向。工作区资料未提供实际AI学习程度、已完成AI业务项目或效果数据，因此全部标为探索与待验证方向。ChatGPT和Codex仅为用户提供的工具示例。左右箭头表示可能的关联，不表示唯一对应或已实现的系统集成。Agent指智能体；Skill指可复用技能指令；MCP指模型上下文协议（Model Context Protocol），用于连接工具与数据来源。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MC课程路线来源：《学习目标与计划.md》第3节第4～8周课程与最终综合项目要求。阶段规划与AI探索方向来源于用户给定大纲。近期、中期、后期仅表示推进顺序，不承诺具体日期。综合计划分析案例、AI原型为预期交付，尚不作为已完成成果。第4～6章综合练习待完成的状态依据《学习进度.md》。业务案例将使用教学模拟数据，未引用真实企业生产或改善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006413f50a45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1b2d8b03c94e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fe35e057244ac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eead9cde1462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d3e19f5fa640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ffb46527474d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6073EC-6381-476F-9A5F-9132B505B8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6AC2115-5134-4B49-8FD4-76BB7048F6A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7751567-5D4F-4AA8-82E9-B28B77822C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389A62-98C7-4E6D-8EB9-68AF8FDB0C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94FB6EE-3C69-43FB-9582-0BE6ABCF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B3008F2-B10C-426E-8FB9-80133B4FEC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45A18F-291C-4453-8EB2-966EFE43A7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88F2829-EC07-47BD-9BCE-9B49ECDD05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4D81F2-E5EB-4B96-AD64-A07955416A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BE4BDE-FEB7-463C-9977-D5FAD20786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a7de16827f47c2" /><Relationship Type="http://schemas.openxmlformats.org/officeDocument/2006/relationships/slideLayout" Target="/ppt/slideLayouts/slideLayout1.xml" Id="Rdfad63548bb44ffb" /><Relationship Type="http://schemas.openxmlformats.org/officeDocument/2006/relationships/slideLayout" Target="/ppt/slideLayouts/slideLayout2.xml" Id="Rc110ab1cf79946b6" /><Relationship Type="http://schemas.openxmlformats.org/officeDocument/2006/relationships/slideLayout" Target="/ppt/slideLayouts/slideLayout3.xml" Id="R20bbdfe223a84a52" /><Relationship Type="http://schemas.openxmlformats.org/officeDocument/2006/relationships/slideLayout" Target="/ppt/slideLayouts/slideLayout4.xml" Id="R02a31507312e4698" /><Relationship Type="http://schemas.openxmlformats.org/officeDocument/2006/relationships/slideLayout" Target="/ppt/slideLayouts/slideLayout5.xml" Id="R6e0e1e8b3b554f53" /><Relationship Type="http://schemas.openxmlformats.org/officeDocument/2006/relationships/slideLayout" Target="/ppt/slideLayouts/slideLayout6.xml" Id="R9e78acde2d3a47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ad63548bb44ffb"/>
    <p:sldLayoutId xmlns:r="http://schemas.openxmlformats.org/officeDocument/2006/relationships" id="2147483650" r:id="Rc110ab1cf79946b6"/>
    <p:sldLayoutId xmlns:r="http://schemas.openxmlformats.org/officeDocument/2006/relationships" id="2147483651" r:id="R20bbdfe223a84a52"/>
    <p:sldLayoutId xmlns:r="http://schemas.openxmlformats.org/officeDocument/2006/relationships" id="2147483652" r:id="R02a31507312e4698"/>
    <p:sldLayoutId xmlns:r="http://schemas.openxmlformats.org/officeDocument/2006/relationships" id="2147483653" r:id="R6e0e1e8b3b554f53"/>
    <p:sldLayoutId xmlns:r="http://schemas.openxmlformats.org/officeDocument/2006/relationships" id="2147483654" r:id="R9e78acde2d3a47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11f542e113427e" /><Relationship Type="http://schemas.openxmlformats.org/officeDocument/2006/relationships/notesSlide" Target="/ppt/notesSlides/notesSlide1.xml" Id="R2db5fae6402b40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d54f3c381541ad" /><Relationship Type="http://schemas.openxmlformats.org/officeDocument/2006/relationships/notesSlide" Target="/ppt/notesSlides/notesSlide2.xml" Id="Rfbce65054b3f4e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030acfe9974d98" /><Relationship Type="http://schemas.openxmlformats.org/officeDocument/2006/relationships/notesSlide" Target="/ppt/notesSlides/notesSlide3.xml" Id="R55cba70e509b4d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f6b45cf5a540fd" /><Relationship Type="http://schemas.openxmlformats.org/officeDocument/2006/relationships/notesSlide" Target="/ppt/notesSlides/notesSlide4.xml" Id="R628d39abf2c84a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413d34411a43ea" /><Relationship Type="http://schemas.openxmlformats.org/officeDocument/2006/relationships/notesSlide" Target="/ppt/notesSlides/notesSlide5.xml" Id="R46c5652848ca49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cover-accent-1">
            <a:extLst xmlns:a="http://schemas.openxmlformats.org/drawingml/2006/main">
              <a:ext uri="{FF2B5EF4-FFF2-40B4-BE49-F238E27FC236}">
                <a16:creationId xmlns:a16="http://schemas.microsoft.com/office/drawing/2014/main" id="{EFF1D560-2B2C-4304-B611-B20C20B3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B9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70F9372A-557B-4EFD-96FC-D9B3FE67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572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PMC 业务学习阶段总结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与 AI 技术应用探索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4D84054A-8322-4913-85D3-66FC58A9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B7CBE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B7CBE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B7CBE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B7CBE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B7CBE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B7CBE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B7CBE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B7CBE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B7CBE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B7CBE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B7CBE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B7CBE0"/>
                </a:solidFill>
                <a:latin typeface="Hiragino Sans GB"/>
                <a:ea typeface="Hiragino Sans GB"/>
                <a:cs typeface="Hiragino Sans GB"/>
              </a:rPr>
              <a:t>阶段学习成果 · 业务理解 · AI 探索 · 后续规划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F912FF55-8C84-4DB5-B662-A843F497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汇报人：[待填写]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187AC3CD-5305-40C1-9708-726C7C4D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B7CBE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B7CBE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B7CBE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B7CBE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B7CBE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B7CBE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B7CBE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B7CBE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B7CBE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B7CBE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B7CBE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B7CBE0"/>
                </a:solidFill>
                <a:latin typeface="Hiragino Sans GB"/>
                <a:ea typeface="Hiragino Sans GB"/>
                <a:cs typeface="Hiragino Sans GB"/>
              </a:rPr>
              <a:t>汇报时间：2026 年 10 月</a:t>
            </a:r>
          </a:p>
        </p:txBody>
      </p:sp>
      <p:sp>
        <p:nvSpPr>
          <p:cNvPr id="6" name="line-6">
            <a:extLst xmlns:a="http://schemas.openxmlformats.org/drawingml/2006/main">
              <a:ext uri="{FF2B5EF4-FFF2-40B4-BE49-F238E27FC236}">
                <a16:creationId xmlns:a16="http://schemas.microsoft.com/office/drawing/2014/main" id="{572C569C-A884-4E84-BF30-F29445A4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2400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953"/>
            </a:solidFill>
            <a:prstDash val="solid"/>
          </a:ln>
        </p:spPr>
      </p:sp>
      <p:sp>
        <p:nvSpPr>
          <p:cNvPr id="7" name="line-7">
            <a:extLst xmlns:a="http://schemas.openxmlformats.org/drawingml/2006/main">
              <a:ext uri="{FF2B5EF4-FFF2-40B4-BE49-F238E27FC236}">
                <a16:creationId xmlns:a16="http://schemas.microsoft.com/office/drawing/2014/main" id="{52B62566-0327-48E9-BC42-1FE9E495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52400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953"/>
            </a:solidFill>
            <a:prstDash val="solid"/>
          </a:ln>
        </p:spPr>
      </p:sp>
      <p:sp>
        <p:nvSpPr>
          <p:cNvPr id="8" name="line-8">
            <a:extLst xmlns:a="http://schemas.openxmlformats.org/drawingml/2006/main">
              <a:ext uri="{FF2B5EF4-FFF2-40B4-BE49-F238E27FC236}">
                <a16:creationId xmlns:a16="http://schemas.microsoft.com/office/drawing/2014/main" id="{4FE0DEC1-8D2F-4342-AE9D-CA0B48A3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52400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953"/>
            </a:solidFill>
            <a:prstDash val="solid"/>
          </a:ln>
        </p:spPr>
      </p:sp>
      <p:sp>
        <p:nvSpPr>
          <p:cNvPr id="9" name="line-9">
            <a:extLst xmlns:a="http://schemas.openxmlformats.org/drawingml/2006/main">
              <a:ext uri="{FF2B5EF4-FFF2-40B4-BE49-F238E27FC236}">
                <a16:creationId xmlns:a16="http://schemas.microsoft.com/office/drawing/2014/main" id="{E91F687C-FA5F-40ED-B7A5-E17EB3AC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52400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953"/>
            </a:solidFill>
            <a:prstDash val="solid"/>
          </a:ln>
        </p:spPr>
      </p:sp>
      <p:sp>
        <p:nvSpPr>
          <p:cNvPr id="10" name="line-10">
            <a:extLst xmlns:a="http://schemas.openxmlformats.org/drawingml/2006/main">
              <a:ext uri="{FF2B5EF4-FFF2-40B4-BE49-F238E27FC236}">
                <a16:creationId xmlns:a16="http://schemas.microsoft.com/office/drawing/2014/main" id="{F64DC7DB-963A-4ADE-8323-F1B85289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152400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953"/>
            </a:solidFill>
            <a:prstDash val="solid"/>
          </a:ln>
        </p:spPr>
      </p:sp>
      <p:sp>
        <p:nvSpPr>
          <p:cNvPr id="11" name="line-11">
            <a:extLst xmlns:a="http://schemas.openxmlformats.org/drawingml/2006/main">
              <a:ext uri="{FF2B5EF4-FFF2-40B4-BE49-F238E27FC236}">
                <a16:creationId xmlns:a16="http://schemas.microsoft.com/office/drawing/2014/main" id="{C24E0882-98A7-4B35-AFC4-5DE60718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52400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953"/>
            </a:solidFill>
            <a:prstDash val="solid"/>
          </a:ln>
        </p:spPr>
      </p:sp>
      <p:sp>
        <p:nvSpPr>
          <p:cNvPr id="12" name="line-12">
            <a:extLst xmlns:a="http://schemas.openxmlformats.org/drawingml/2006/main">
              <a:ext uri="{FF2B5EF4-FFF2-40B4-BE49-F238E27FC236}">
                <a16:creationId xmlns:a16="http://schemas.microsoft.com/office/drawing/2014/main" id="{FF5A2B3F-412A-4A3B-9208-C368893E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192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953"/>
            </a:solidFill>
            <a:prstDash val="solid"/>
          </a:ln>
        </p:spPr>
      </p:sp>
      <p:sp>
        <p:nvSpPr>
          <p:cNvPr id="13" name="line-13">
            <a:extLst xmlns:a="http://schemas.openxmlformats.org/drawingml/2006/main">
              <a:ext uri="{FF2B5EF4-FFF2-40B4-BE49-F238E27FC236}">
                <a16:creationId xmlns:a16="http://schemas.microsoft.com/office/drawing/2014/main" id="{FACEB845-F692-4D47-821E-E0A7743E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953"/>
            </a:solidFill>
            <a:prstDash val="solid"/>
          </a:ln>
        </p:spPr>
      </p:sp>
      <p:sp>
        <p:nvSpPr>
          <p:cNvPr id="14" name="line-14">
            <a:extLst xmlns:a="http://schemas.openxmlformats.org/drawingml/2006/main">
              <a:ext uri="{FF2B5EF4-FFF2-40B4-BE49-F238E27FC236}">
                <a16:creationId xmlns:a16="http://schemas.microsoft.com/office/drawing/2014/main" id="{9F8C2CE9-D024-4913-8CC1-A64FAE18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953"/>
            </a:solidFill>
            <a:prstDash val="solid"/>
          </a:ln>
        </p:spPr>
      </p:sp>
      <p:sp>
        <p:nvSpPr>
          <p:cNvPr id="15" name="line-15">
            <a:extLst xmlns:a="http://schemas.openxmlformats.org/drawingml/2006/main">
              <a:ext uri="{FF2B5EF4-FFF2-40B4-BE49-F238E27FC236}">
                <a16:creationId xmlns:a16="http://schemas.microsoft.com/office/drawing/2014/main" id="{A8EA7AB5-FE12-4625-B718-49688239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953"/>
            </a:solidFill>
            <a:prstDash val="solid"/>
          </a:ln>
        </p:spPr>
      </p:sp>
      <p:sp>
        <p:nvSpPr>
          <p:cNvPr id="16" name="line-16">
            <a:extLst xmlns:a="http://schemas.openxmlformats.org/drawingml/2006/main">
              <a:ext uri="{FF2B5EF4-FFF2-40B4-BE49-F238E27FC236}">
                <a16:creationId xmlns:a16="http://schemas.microsoft.com/office/drawing/2014/main" id="{E36353E5-838B-41BF-B009-729E8CC7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953"/>
            </a:solidFill>
            <a:prstDash val="solid"/>
          </a:ln>
        </p:spPr>
      </p:sp>
      <p:sp>
        <p:nvSpPr>
          <p:cNvPr id="17" name="line-17">
            <a:extLst xmlns:a="http://schemas.openxmlformats.org/drawingml/2006/main">
              <a:ext uri="{FF2B5EF4-FFF2-40B4-BE49-F238E27FC236}">
                <a16:creationId xmlns:a16="http://schemas.microsoft.com/office/drawing/2014/main" id="{A4F192F3-751E-4933-B525-6A5B16FE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242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953"/>
            </a:solidFill>
            <a:prstDash val="solid"/>
          </a:ln>
        </p:spPr>
      </p:sp>
      <p:sp>
        <p:nvSpPr>
          <p:cNvPr id="18" name="line-18">
            <a:extLst xmlns:a="http://schemas.openxmlformats.org/drawingml/2006/main">
              <a:ext uri="{FF2B5EF4-FFF2-40B4-BE49-F238E27FC236}">
                <a16:creationId xmlns:a16="http://schemas.microsoft.com/office/drawing/2014/main" id="{93A5022F-1046-46FE-AE89-1880164C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052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953"/>
            </a:solidFill>
            <a:prstDash val="solid"/>
          </a:ln>
        </p:spPr>
      </p:sp>
      <p:sp>
        <p:nvSpPr>
          <p:cNvPr id="19" name="line-19">
            <a:extLst xmlns:a="http://schemas.openxmlformats.org/drawingml/2006/main">
              <a:ext uri="{FF2B5EF4-FFF2-40B4-BE49-F238E27FC236}">
                <a16:creationId xmlns:a16="http://schemas.microsoft.com/office/drawing/2014/main" id="{01C8ECD4-3392-4F9C-9A55-31BECA40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862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953"/>
            </a:solidFill>
            <a:prstDash val="solid"/>
          </a:ln>
        </p:spPr>
      </p:sp>
      <p:sp>
        <p:nvSpPr>
          <p:cNvPr id="20" name="line-20">
            <a:extLst xmlns:a="http://schemas.openxmlformats.org/drawingml/2006/main">
              <a:ext uri="{FF2B5EF4-FFF2-40B4-BE49-F238E27FC236}">
                <a16:creationId xmlns:a16="http://schemas.microsoft.com/office/drawing/2014/main" id="{BD84EC41-C5E7-47CB-BE9C-076F4553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672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953"/>
            </a:solidFill>
            <a:prstDash val="solid"/>
          </a:ln>
        </p:spPr>
      </p:sp>
      <p:sp>
        <p:nvSpPr>
          <p:cNvPr id="21" name="line-21">
            <a:extLst xmlns:a="http://schemas.openxmlformats.org/drawingml/2006/main">
              <a:ext uri="{FF2B5EF4-FFF2-40B4-BE49-F238E27FC236}">
                <a16:creationId xmlns:a16="http://schemas.microsoft.com/office/drawing/2014/main" id="{D2CB0536-B957-498B-BFB3-29F63CF4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482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953"/>
            </a:solidFill>
            <a:prstDash val="solid"/>
          </a:ln>
        </p:spPr>
      </p:sp>
      <p:sp>
        <p:nvSpPr>
          <p:cNvPr id="22" name="line-22">
            <a:extLst xmlns:a="http://schemas.openxmlformats.org/drawingml/2006/main">
              <a:ext uri="{FF2B5EF4-FFF2-40B4-BE49-F238E27FC236}">
                <a16:creationId xmlns:a16="http://schemas.microsoft.com/office/drawing/2014/main" id="{CE63AFA6-C758-47BE-924A-F5B62EEF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052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87D0"/>
            </a:solidFill>
            <a:prstDash val="solid"/>
          </a:ln>
        </p:spPr>
      </p:sp>
      <p:sp>
        <p:nvSpPr>
          <p:cNvPr id="23" name="line-23">
            <a:extLst xmlns:a="http://schemas.openxmlformats.org/drawingml/2006/main">
              <a:ext uri="{FF2B5EF4-FFF2-40B4-BE49-F238E27FC236}">
                <a16:creationId xmlns:a16="http://schemas.microsoft.com/office/drawing/2014/main" id="{6FEB3BD1-9E33-43B3-9C7D-041B997F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87D0"/>
            </a:solidFill>
            <a:prstDash val="solid"/>
          </a:ln>
        </p:spPr>
      </p:sp>
      <p:sp>
        <p:nvSpPr>
          <p:cNvPr id="24" name="line-24">
            <a:extLst xmlns:a="http://schemas.openxmlformats.org/drawingml/2006/main">
              <a:ext uri="{FF2B5EF4-FFF2-40B4-BE49-F238E27FC236}">
                <a16:creationId xmlns:a16="http://schemas.microsoft.com/office/drawing/2014/main" id="{57FBF2FD-FB8B-41F4-B195-A12F54D2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9B9ED"/>
            </a:solidFill>
            <a:prstDash val="solid"/>
          </a:ln>
        </p:spPr>
      </p:sp>
      <p:sp>
        <p:nvSpPr>
          <p:cNvPr id="25" name="grid-node-25">
            <a:extLst xmlns:a="http://schemas.openxmlformats.org/drawingml/2006/main">
              <a:ext uri="{FF2B5EF4-FFF2-40B4-BE49-F238E27FC236}">
                <a16:creationId xmlns:a16="http://schemas.microsoft.com/office/drawing/2014/main" id="{72D61773-9063-4AEC-A753-E643E4E4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867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B9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node-26">
            <a:extLst xmlns:a="http://schemas.openxmlformats.org/drawingml/2006/main">
              <a:ext uri="{FF2B5EF4-FFF2-40B4-BE49-F238E27FC236}">
                <a16:creationId xmlns:a16="http://schemas.microsoft.com/office/drawing/2014/main" id="{ABC86C98-8826-4E78-92BA-CD2BCD4C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105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B9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node-27">
            <a:extLst xmlns:a="http://schemas.openxmlformats.org/drawingml/2006/main">
              <a:ext uri="{FF2B5EF4-FFF2-40B4-BE49-F238E27FC236}">
                <a16:creationId xmlns:a16="http://schemas.microsoft.com/office/drawing/2014/main" id="{A4FDD050-7A3C-41AC-9E40-F6A5CAF4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3105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B9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line-28">
            <a:extLst xmlns:a="http://schemas.openxmlformats.org/drawingml/2006/main">
              <a:ext uri="{FF2B5EF4-FFF2-40B4-BE49-F238E27FC236}">
                <a16:creationId xmlns:a16="http://schemas.microsoft.com/office/drawing/2014/main" id="{369495E9-3CA0-42D1-B491-D7E9B2F0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45F"/>
            </a:solidFill>
            <a:prstDash val="solid"/>
          </a:ln>
        </p:spPr>
      </p:sp>
      <p:sp>
        <p:nvSpPr>
          <p:cNvPr id="29" name="text-29">
            <a:extLst xmlns:a="http://schemas.openxmlformats.org/drawingml/2006/main">
              <a:ext uri="{FF2B5EF4-FFF2-40B4-BE49-F238E27FC236}">
                <a16:creationId xmlns:a16="http://schemas.microsoft.com/office/drawing/2014/main" id="{A53FA4FD-9FC7-428F-B70F-E234B96D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9CB1C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00" b="0">
                <a:solidFill>
                  <a:srgbClr val="9CB1C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00" b="0">
                <a:solidFill>
                  <a:srgbClr val="9CB1C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00" b="0">
                <a:solidFill>
                  <a:srgbClr val="9CB1C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00" b="0">
                <a:solidFill>
                  <a:srgbClr val="9CB1C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00" b="0">
                <a:solidFill>
                  <a:srgbClr val="9CB1C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00" b="0">
                <a:solidFill>
                  <a:srgbClr val="9CB1C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00" b="0">
                <a:solidFill>
                  <a:srgbClr val="9CB1C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00" b="0">
                <a:solidFill>
                  <a:srgbClr val="9CB1C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00" b="0">
                <a:solidFill>
                  <a:srgbClr val="9CB1C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CB1C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CB1CA"/>
                </a:solidFill>
                <a:latin typeface="Hiragino Sans GB"/>
                <a:ea typeface="Hiragino Sans GB"/>
                <a:cs typeface="Hiragino Sans GB"/>
              </a:rPr>
              <a:t>PMC 阶段学习汇报</a:t>
            </a:r>
          </a:p>
        </p:txBody>
      </p:sp>
      <p:sp>
        <p:nvSpPr>
          <p:cNvPr id="30" name="text-30">
            <a:extLst xmlns:a="http://schemas.openxmlformats.org/drawingml/2006/main">
              <a:ext uri="{FF2B5EF4-FFF2-40B4-BE49-F238E27FC236}">
                <a16:creationId xmlns:a16="http://schemas.microsoft.com/office/drawing/2014/main" id="{1C45D285-503F-4DD7-AD5D-1D4F740F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722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9CB1C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200" b="0">
                <a:solidFill>
                  <a:srgbClr val="9CB1C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200" b="0">
                <a:solidFill>
                  <a:srgbClr val="9CB1C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200" b="0">
                <a:solidFill>
                  <a:srgbClr val="9CB1C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200" b="0">
                <a:solidFill>
                  <a:srgbClr val="9CB1C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200" b="0">
                <a:solidFill>
                  <a:srgbClr val="9CB1C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200" b="0">
                <a:solidFill>
                  <a:srgbClr val="9CB1C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200" b="0">
                <a:solidFill>
                  <a:srgbClr val="9CB1C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200" b="0">
                <a:solidFill>
                  <a:srgbClr val="9CB1C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200" b="0">
                <a:solidFill>
                  <a:srgbClr val="9CB1C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9CB1C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CB1CA"/>
                </a:solidFill>
                <a:latin typeface="Hiragino Sans GB"/>
                <a:ea typeface="Hiragino Sans GB"/>
                <a:cs typeface="Hiragino Sans GB"/>
              </a:rPr>
              <a:t>01 / 05</a:t>
            </a:r>
          </a:p>
        </p:txBody>
      </p:sp>
    </p:spTree>
    <p:extLst>
      <p:ext uri="{BB962C8B-B14F-4D97-AF65-F5344CB8AC3E}">
        <p14:creationId xmlns:p14="http://schemas.microsoft.com/office/powerpoint/2010/main" val="9294401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itle-accent-31">
            <a:extLst xmlns:a="http://schemas.openxmlformats.org/drawingml/2006/main">
              <a:ext uri="{FF2B5EF4-FFF2-40B4-BE49-F238E27FC236}">
                <a16:creationId xmlns:a16="http://schemas.microsoft.com/office/drawing/2014/main" id="{2D0AF1D5-E6BE-49B4-9997-405BA16D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32">
            <a:extLst xmlns:a="http://schemas.openxmlformats.org/drawingml/2006/main">
              <a:ext uri="{FF2B5EF4-FFF2-40B4-BE49-F238E27FC236}">
                <a16:creationId xmlns:a16="http://schemas.microsoft.com/office/drawing/2014/main" id="{7F48E2C5-3470-4ABD-BD37-8BE346DF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阶段学习进度｜从基础认知向计划管理推进</a:t>
            </a:r>
          </a:p>
        </p:txBody>
      </p:sp>
      <p:sp>
        <p:nvSpPr>
          <p:cNvPr id="3" name="line-33">
            <a:extLst xmlns:a="http://schemas.openxmlformats.org/drawingml/2006/main">
              <a:ext uri="{FF2B5EF4-FFF2-40B4-BE49-F238E27FC236}">
                <a16:creationId xmlns:a16="http://schemas.microsoft.com/office/drawing/2014/main" id="{D48587B7-002B-4483-B721-FA6F4CA4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4" name="text-34">
            <a:extLst xmlns:a="http://schemas.openxmlformats.org/drawingml/2006/main">
              <a:ext uri="{FF2B5EF4-FFF2-40B4-BE49-F238E27FC236}">
                <a16:creationId xmlns:a16="http://schemas.microsoft.com/office/drawing/2014/main" id="{F059E689-9039-41A0-9282-480AC0C3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PMC 阶段学习汇报</a:t>
            </a:r>
          </a:p>
        </p:txBody>
      </p:sp>
      <p:sp>
        <p:nvSpPr>
          <p:cNvPr id="5" name="text-35">
            <a:extLst xmlns:a="http://schemas.openxmlformats.org/drawingml/2006/main">
              <a:ext uri="{FF2B5EF4-FFF2-40B4-BE49-F238E27FC236}">
                <a16:creationId xmlns:a16="http://schemas.microsoft.com/office/drawing/2014/main" id="{7081C667-6204-4465-9C39-0EA40E32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722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02 / 05</a:t>
            </a:r>
          </a:p>
        </p:txBody>
      </p:sp>
      <p:sp>
        <p:nvSpPr>
          <p:cNvPr id="6" name="card-36">
            <a:extLst xmlns:a="http://schemas.openxmlformats.org/drawingml/2006/main">
              <a:ext uri="{FF2B5EF4-FFF2-40B4-BE49-F238E27FC236}">
                <a16:creationId xmlns:a16="http://schemas.microsoft.com/office/drawing/2014/main" id="{30B465A1-2288-4FFB-9563-B7969444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350520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7" name="text-37">
            <a:extLst xmlns:a="http://schemas.openxmlformats.org/drawingml/2006/main">
              <a:ext uri="{FF2B5EF4-FFF2-40B4-BE49-F238E27FC236}">
                <a16:creationId xmlns:a16="http://schemas.microsoft.com/office/drawing/2014/main" id="{E2E0BCD9-743E-44E2-9175-CF131BBA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716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rPr>
              <a:t>8 周</a:t>
            </a:r>
          </a:p>
        </p:txBody>
      </p:sp>
      <p:sp>
        <p:nvSpPr>
          <p:cNvPr id="8" name="text-38">
            <a:extLst xmlns:a="http://schemas.openxmlformats.org/drawingml/2006/main">
              <a:ext uri="{FF2B5EF4-FFF2-40B4-BE49-F238E27FC236}">
                <a16:creationId xmlns:a16="http://schemas.microsoft.com/office/drawing/2014/main" id="{2E3AEF01-2AB3-4418-87FD-949291BF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总体学习周期</a:t>
            </a:r>
          </a:p>
        </p:txBody>
      </p:sp>
      <p:sp>
        <p:nvSpPr>
          <p:cNvPr id="9" name="card-39">
            <a:extLst xmlns:a="http://schemas.openxmlformats.org/drawingml/2006/main">
              <a:ext uri="{FF2B5EF4-FFF2-40B4-BE49-F238E27FC236}">
                <a16:creationId xmlns:a16="http://schemas.microsoft.com/office/drawing/2014/main" id="{CC2CA2FB-C375-472E-9ADF-9C6D6C1E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238250"/>
            <a:ext cx="350520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0" name="text-40">
            <a:extLst xmlns:a="http://schemas.openxmlformats.org/drawingml/2006/main">
              <a:ext uri="{FF2B5EF4-FFF2-40B4-BE49-F238E27FC236}">
                <a16:creationId xmlns:a16="http://schemas.microsoft.com/office/drawing/2014/main" id="{2F24C5D7-7C2E-4746-A6A3-CFB852B0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716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rPr>
              <a:t>15 章</a:t>
            </a:r>
          </a:p>
        </p:txBody>
      </p:sp>
      <p:sp>
        <p:nvSpPr>
          <p:cNvPr id="11" name="text-41">
            <a:extLst xmlns:a="http://schemas.openxmlformats.org/drawingml/2006/main">
              <a:ext uri="{FF2B5EF4-FFF2-40B4-BE49-F238E27FC236}">
                <a16:creationId xmlns:a16="http://schemas.microsoft.com/office/drawing/2014/main" id="{F72212F9-ACD4-4C6D-A5D7-94AFA0FC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478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学习模块总数</a:t>
            </a:r>
          </a:p>
        </p:txBody>
      </p:sp>
      <p:sp>
        <p:nvSpPr>
          <p:cNvPr id="12" name="card-42">
            <a:extLst xmlns:a="http://schemas.openxmlformats.org/drawingml/2006/main">
              <a:ext uri="{FF2B5EF4-FFF2-40B4-BE49-F238E27FC236}">
                <a16:creationId xmlns:a16="http://schemas.microsoft.com/office/drawing/2014/main" id="{F1C36132-7C77-43B0-8551-74E56F8F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238250"/>
            <a:ext cx="350520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3" name="text-43">
            <a:extLst xmlns:a="http://schemas.openxmlformats.org/drawingml/2006/main">
              <a:ext uri="{FF2B5EF4-FFF2-40B4-BE49-F238E27FC236}">
                <a16:creationId xmlns:a16="http://schemas.microsoft.com/office/drawing/2014/main" id="{2CABF946-1047-40FD-A9FA-AFFB1BC8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3716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rPr>
              <a:t>06  MRP</a:t>
            </a:r>
          </a:p>
        </p:txBody>
      </p:sp>
      <p:sp>
        <p:nvSpPr>
          <p:cNvPr id="14" name="text-44">
            <a:extLst xmlns:a="http://schemas.openxmlformats.org/drawingml/2006/main">
              <a:ext uri="{FF2B5EF4-FFF2-40B4-BE49-F238E27FC236}">
                <a16:creationId xmlns:a16="http://schemas.microsoft.com/office/drawing/2014/main" id="{E53904FE-E44D-4FC6-913C-FDD973AB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478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当前学习位置</a:t>
            </a:r>
          </a:p>
        </p:txBody>
      </p:sp>
      <p:sp>
        <p:nvSpPr>
          <p:cNvPr id="15" name="text-45">
            <a:extLst xmlns:a="http://schemas.openxmlformats.org/drawingml/2006/main">
              <a:ext uri="{FF2B5EF4-FFF2-40B4-BE49-F238E27FC236}">
                <a16:creationId xmlns:a16="http://schemas.microsoft.com/office/drawing/2014/main" id="{E06C876C-6681-420C-9449-1F3012C2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1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1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1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1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1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1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1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1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1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rPr>
              <a:t>已学习范围：第 01–06 章</a:t>
            </a:r>
          </a:p>
        </p:txBody>
      </p:sp>
      <p:sp>
        <p:nvSpPr>
          <p:cNvPr id="16" name="text-46">
            <a:extLst xmlns:a="http://schemas.openxmlformats.org/drawingml/2006/main">
              <a:ext uri="{FF2B5EF4-FFF2-40B4-BE49-F238E27FC236}">
                <a16:creationId xmlns:a16="http://schemas.microsoft.com/office/drawing/2014/main" id="{CEE09D35-1C8B-4B53-B062-DD083D1E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098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225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225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225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225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225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225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225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225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225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225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225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rPr>
              <a:t>6/15 章 · 40%</a:t>
            </a:r>
          </a:p>
        </p:txBody>
      </p:sp>
      <p:sp>
        <p:nvSpPr>
          <p:cNvPr id="17" name="chapter-1-47">
            <a:extLst xmlns:a="http://schemas.openxmlformats.org/drawingml/2006/main">
              <a:ext uri="{FF2B5EF4-FFF2-40B4-BE49-F238E27FC236}">
                <a16:creationId xmlns:a16="http://schemas.microsoft.com/office/drawing/2014/main" id="{FC1ADE31-9BED-44E7-9509-AFF20A1B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67818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48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apter-2-48">
            <a:extLst xmlns:a="http://schemas.openxmlformats.org/drawingml/2006/main">
              <a:ext uri="{FF2B5EF4-FFF2-40B4-BE49-F238E27FC236}">
                <a16:creationId xmlns:a16="http://schemas.microsoft.com/office/drawing/2014/main" id="{D618B29E-2ED3-40C3-AD62-1AC6D429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" y="2943225"/>
            <a:ext cx="67818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48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hapter-3-49">
            <a:extLst xmlns:a="http://schemas.openxmlformats.org/drawingml/2006/main">
              <a:ext uri="{FF2B5EF4-FFF2-40B4-BE49-F238E27FC236}">
                <a16:creationId xmlns:a16="http://schemas.microsoft.com/office/drawing/2014/main" id="{781D2EDA-79BA-4A7C-A8E6-66F2320F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260" y="2943225"/>
            <a:ext cx="67818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48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apter-4-50">
            <a:extLst xmlns:a="http://schemas.openxmlformats.org/drawingml/2006/main">
              <a:ext uri="{FF2B5EF4-FFF2-40B4-BE49-F238E27FC236}">
                <a16:creationId xmlns:a16="http://schemas.microsoft.com/office/drawing/2014/main" id="{B1A3CDD9-0137-49DD-9667-DF4CDDA7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590" y="2943225"/>
            <a:ext cx="67818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48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hapter-5-51">
            <a:extLst xmlns:a="http://schemas.openxmlformats.org/drawingml/2006/main">
              <a:ext uri="{FF2B5EF4-FFF2-40B4-BE49-F238E27FC236}">
                <a16:creationId xmlns:a16="http://schemas.microsoft.com/office/drawing/2014/main" id="{DF1B5252-5967-48CC-881C-25CF69DE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943225"/>
            <a:ext cx="67818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48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hapter-6-52">
            <a:extLst xmlns:a="http://schemas.openxmlformats.org/drawingml/2006/main">
              <a:ext uri="{FF2B5EF4-FFF2-40B4-BE49-F238E27FC236}">
                <a16:creationId xmlns:a16="http://schemas.microsoft.com/office/drawing/2014/main" id="{15A4CFB8-AE28-4237-AB84-990265A4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43225"/>
            <a:ext cx="67818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69B9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hapter-7-53">
            <a:extLst xmlns:a="http://schemas.openxmlformats.org/drawingml/2006/main">
              <a:ext uri="{FF2B5EF4-FFF2-40B4-BE49-F238E27FC236}">
                <a16:creationId xmlns:a16="http://schemas.microsoft.com/office/drawing/2014/main" id="{95EE77AD-C3FE-4BD0-AE1E-6AE54C5F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1580" y="2943225"/>
            <a:ext cx="67818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9E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hapter-8-54">
            <a:extLst xmlns:a="http://schemas.openxmlformats.org/drawingml/2006/main">
              <a:ext uri="{FF2B5EF4-FFF2-40B4-BE49-F238E27FC236}">
                <a16:creationId xmlns:a16="http://schemas.microsoft.com/office/drawing/2014/main" id="{E7BC2689-D108-4508-B272-A49F2F1E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910" y="2943225"/>
            <a:ext cx="67818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9E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hapter-9-55">
            <a:extLst xmlns:a="http://schemas.openxmlformats.org/drawingml/2006/main">
              <a:ext uri="{FF2B5EF4-FFF2-40B4-BE49-F238E27FC236}">
                <a16:creationId xmlns:a16="http://schemas.microsoft.com/office/drawing/2014/main" id="{1CEA437A-9DD1-404D-B8DD-C1D0AFEC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43225"/>
            <a:ext cx="67818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9E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hapter-10-56">
            <a:extLst xmlns:a="http://schemas.openxmlformats.org/drawingml/2006/main">
              <a:ext uri="{FF2B5EF4-FFF2-40B4-BE49-F238E27FC236}">
                <a16:creationId xmlns:a16="http://schemas.microsoft.com/office/drawing/2014/main" id="{7F9E7238-AB60-422B-8D59-2EAAED7E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7570" y="2943225"/>
            <a:ext cx="67818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9E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hapter-11-57">
            <a:extLst xmlns:a="http://schemas.openxmlformats.org/drawingml/2006/main">
              <a:ext uri="{FF2B5EF4-FFF2-40B4-BE49-F238E27FC236}">
                <a16:creationId xmlns:a16="http://schemas.microsoft.com/office/drawing/2014/main" id="{7454A9EA-4C96-41D7-87D1-87309485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43225"/>
            <a:ext cx="67818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9E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hapter-12-58">
            <a:extLst xmlns:a="http://schemas.openxmlformats.org/drawingml/2006/main">
              <a:ext uri="{FF2B5EF4-FFF2-40B4-BE49-F238E27FC236}">
                <a16:creationId xmlns:a16="http://schemas.microsoft.com/office/drawing/2014/main" id="{9003A7D9-5732-45EE-8D00-4FEFA79D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8230" y="2943225"/>
            <a:ext cx="67818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9E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hapter-13-59">
            <a:extLst xmlns:a="http://schemas.openxmlformats.org/drawingml/2006/main">
              <a:ext uri="{FF2B5EF4-FFF2-40B4-BE49-F238E27FC236}">
                <a16:creationId xmlns:a16="http://schemas.microsoft.com/office/drawing/2014/main" id="{BADBA77C-88A8-404D-98F7-13424412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2943225"/>
            <a:ext cx="67818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9E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hapter-14-60">
            <a:extLst xmlns:a="http://schemas.openxmlformats.org/drawingml/2006/main">
              <a:ext uri="{FF2B5EF4-FFF2-40B4-BE49-F238E27FC236}">
                <a16:creationId xmlns:a16="http://schemas.microsoft.com/office/drawing/2014/main" id="{CED35148-2904-4A13-B64B-7CA9D163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890" y="2943225"/>
            <a:ext cx="67818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9E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apter-15-61">
            <a:extLst xmlns:a="http://schemas.openxmlformats.org/drawingml/2006/main">
              <a:ext uri="{FF2B5EF4-FFF2-40B4-BE49-F238E27FC236}">
                <a16:creationId xmlns:a16="http://schemas.microsoft.com/office/drawing/2014/main" id="{C04985E0-052C-457D-A327-D5BB2D48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220" y="2943225"/>
            <a:ext cx="67818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9E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62">
            <a:extLst xmlns:a="http://schemas.openxmlformats.org/drawingml/2006/main">
              <a:ext uri="{FF2B5EF4-FFF2-40B4-BE49-F238E27FC236}">
                <a16:creationId xmlns:a16="http://schemas.microsoft.com/office/drawing/2014/main" id="{C60448AF-AA31-4C3D-B28F-E8E271BD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40% 为章节覆盖率，不代表知识掌握度。第 4–6 章综合练习仍待完成。</a:t>
            </a:r>
          </a:p>
        </p:txBody>
      </p:sp>
      <p:sp>
        <p:nvSpPr>
          <p:cNvPr id="33" name="card-63">
            <a:extLst xmlns:a="http://schemas.openxmlformats.org/drawingml/2006/main">
              <a:ext uri="{FF2B5EF4-FFF2-40B4-BE49-F238E27FC236}">
                <a16:creationId xmlns:a16="http://schemas.microsoft.com/office/drawing/2014/main" id="{528BB942-C187-4930-9DBA-B9DAB67D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505200" cy="1685925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9CEE9"/>
            </a:solidFill>
            <a:prstDash val="solid"/>
          </a:ln>
        </p:spPr>
      </p:sp>
      <p:sp>
        <p:nvSpPr>
          <p:cNvPr id="34" name="text-64">
            <a:extLst xmlns:a="http://schemas.openxmlformats.org/drawingml/2006/main">
              <a:ext uri="{FF2B5EF4-FFF2-40B4-BE49-F238E27FC236}">
                <a16:creationId xmlns:a16="http://schemas.microsoft.com/office/drawing/2014/main" id="{4067A1A3-2FFA-4082-B89C-06813F1A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576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rPr>
              <a:t>阶段一</a:t>
            </a:r>
          </a:p>
        </p:txBody>
      </p:sp>
      <p:sp>
        <p:nvSpPr>
          <p:cNvPr id="35" name="text-65">
            <a:extLst xmlns:a="http://schemas.openxmlformats.org/drawingml/2006/main">
              <a:ext uri="{FF2B5EF4-FFF2-40B4-BE49-F238E27FC236}">
                <a16:creationId xmlns:a16="http://schemas.microsoft.com/office/drawing/2014/main" id="{CD55A6B1-EDC9-4078-B566-BE432E8A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85762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275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275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275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275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275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275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275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275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275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rPr>
              <a:t>已覆盖，持续复盘</a:t>
            </a:r>
          </a:p>
        </p:txBody>
      </p:sp>
      <p:sp>
        <p:nvSpPr>
          <p:cNvPr id="36" name="text-66">
            <a:extLst xmlns:a="http://schemas.openxmlformats.org/drawingml/2006/main">
              <a:ext uri="{FF2B5EF4-FFF2-40B4-BE49-F238E27FC236}">
                <a16:creationId xmlns:a16="http://schemas.microsoft.com/office/drawing/2014/main" id="{25E1ADEE-026B-4B1A-8654-78BAB9C3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3086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基础认知与计划管理</a:t>
            </a:r>
          </a:p>
        </p:txBody>
      </p:sp>
      <p:sp>
        <p:nvSpPr>
          <p:cNvPr id="37" name="text-67">
            <a:extLst xmlns:a="http://schemas.openxmlformats.org/drawingml/2006/main">
              <a:ext uri="{FF2B5EF4-FFF2-40B4-BE49-F238E27FC236}">
                <a16:creationId xmlns:a16="http://schemas.microsoft.com/office/drawing/2014/main" id="{BD993A97-FC6F-45E1-8FBE-6C253F7F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3124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供应链基础、制造基础数据</a:t>
            </a:r>
          </a:p>
          <a:p xmlns:a="http://schemas.openxmlformats.org/drawingml/2006/main">
            <a: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需求管理、S&amp;OP、MPS、MRP</a:t>
            </a:r>
          </a:p>
        </p:txBody>
      </p:sp>
      <p:sp>
        <p:nvSpPr>
          <p:cNvPr id="38" name="card-68">
            <a:extLst xmlns:a="http://schemas.openxmlformats.org/drawingml/2006/main">
              <a:ext uri="{FF2B5EF4-FFF2-40B4-BE49-F238E27FC236}">
                <a16:creationId xmlns:a16="http://schemas.microsoft.com/office/drawing/2014/main" id="{B9BABA2E-6E2B-4117-A88F-584E955D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14750"/>
            <a:ext cx="3505200" cy="1685925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39" name="text-69">
            <a:extLst xmlns:a="http://schemas.openxmlformats.org/drawingml/2006/main">
              <a:ext uri="{FF2B5EF4-FFF2-40B4-BE49-F238E27FC236}">
                <a16:creationId xmlns:a16="http://schemas.microsoft.com/office/drawing/2014/main" id="{138AC8C4-135F-426B-9CDD-0DB57119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576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1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1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1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1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1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1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1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1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1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阶段二</a:t>
            </a:r>
          </a:p>
        </p:txBody>
      </p:sp>
      <p:sp>
        <p:nvSpPr>
          <p:cNvPr id="40" name="text-70">
            <a:extLst xmlns:a="http://schemas.openxmlformats.org/drawingml/2006/main">
              <a:ext uri="{FF2B5EF4-FFF2-40B4-BE49-F238E27FC236}">
                <a16:creationId xmlns:a16="http://schemas.microsoft.com/office/drawing/2014/main" id="{61080FC6-9278-4B2A-B27E-75F3C7AE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5762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8C9DAF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275" b="0">
                <a:solidFill>
                  <a:srgbClr val="8C9DAF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275" b="0">
                <a:solidFill>
                  <a:srgbClr val="8C9DAF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275" b="0">
                <a:solidFill>
                  <a:srgbClr val="8C9DAF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275" b="0">
                <a:solidFill>
                  <a:srgbClr val="8C9DAF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275" b="0">
                <a:solidFill>
                  <a:srgbClr val="8C9DAF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275" b="0">
                <a:solidFill>
                  <a:srgbClr val="8C9DAF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275" b="0">
                <a:solidFill>
                  <a:srgbClr val="8C9DAF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275" b="0">
                <a:solidFill>
                  <a:srgbClr val="8C9DAF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275" b="0">
                <a:solidFill>
                  <a:srgbClr val="8C9DA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8C9DA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8C9DAF"/>
                </a:solidFill>
                <a:latin typeface="Hiragino Sans GB"/>
                <a:ea typeface="Hiragino Sans GB"/>
                <a:cs typeface="Hiragino Sans GB"/>
              </a:rPr>
              <a:t>后续学习</a:t>
            </a:r>
          </a:p>
        </p:txBody>
      </p:sp>
      <p:sp>
        <p:nvSpPr>
          <p:cNvPr id="41" name="text-71">
            <a:extLst xmlns:a="http://schemas.openxmlformats.org/drawingml/2006/main">
              <a:ext uri="{FF2B5EF4-FFF2-40B4-BE49-F238E27FC236}">
                <a16:creationId xmlns:a16="http://schemas.microsoft.com/office/drawing/2014/main" id="{29AA27A6-EC41-463E-B791-82F3ED73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91000"/>
            <a:ext cx="3086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执行与资源管理</a:t>
            </a:r>
          </a:p>
        </p:txBody>
      </p:sp>
      <p:sp>
        <p:nvSpPr>
          <p:cNvPr id="42" name="text-72">
            <a:extLst xmlns:a="http://schemas.openxmlformats.org/drawingml/2006/main">
              <a:ext uri="{FF2B5EF4-FFF2-40B4-BE49-F238E27FC236}">
                <a16:creationId xmlns:a16="http://schemas.microsoft.com/office/drawing/2014/main" id="{4430464A-ECEB-4EFC-8F93-A3269A1C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10100"/>
            <a:ext cx="3124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产能、库存、采购、物料控制</a:t>
            </a:r>
          </a:p>
          <a:p xmlns:a="http://schemas.openxmlformats.org/drawingml/2006/main">
            <a: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生产控制、排程</a:t>
            </a:r>
          </a:p>
        </p:txBody>
      </p:sp>
      <p:sp>
        <p:nvSpPr>
          <p:cNvPr id="43" name="card-73">
            <a:extLst xmlns:a="http://schemas.openxmlformats.org/drawingml/2006/main">
              <a:ext uri="{FF2B5EF4-FFF2-40B4-BE49-F238E27FC236}">
                <a16:creationId xmlns:a16="http://schemas.microsoft.com/office/drawing/2014/main" id="{F1DB8ECA-7C5F-47E6-9C65-C5749890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14750"/>
            <a:ext cx="3505200" cy="1685925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44" name="text-74">
            <a:extLst xmlns:a="http://schemas.openxmlformats.org/drawingml/2006/main">
              <a:ext uri="{FF2B5EF4-FFF2-40B4-BE49-F238E27FC236}">
                <a16:creationId xmlns:a16="http://schemas.microsoft.com/office/drawing/2014/main" id="{810259F3-79D7-4323-9F35-65E5422A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1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1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1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1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1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1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1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1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1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阶段三</a:t>
            </a:r>
          </a:p>
        </p:txBody>
      </p:sp>
      <p:sp>
        <p:nvSpPr>
          <p:cNvPr id="45" name="text-75">
            <a:extLst xmlns:a="http://schemas.openxmlformats.org/drawingml/2006/main">
              <a:ext uri="{FF2B5EF4-FFF2-40B4-BE49-F238E27FC236}">
                <a16:creationId xmlns:a16="http://schemas.microsoft.com/office/drawing/2014/main" id="{B8677BD2-9291-4243-A73B-2BEDD1BE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5762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8C9DAF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275" b="0">
                <a:solidFill>
                  <a:srgbClr val="8C9DAF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275" b="0">
                <a:solidFill>
                  <a:srgbClr val="8C9DAF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275" b="0">
                <a:solidFill>
                  <a:srgbClr val="8C9DAF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275" b="0">
                <a:solidFill>
                  <a:srgbClr val="8C9DAF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275" b="0">
                <a:solidFill>
                  <a:srgbClr val="8C9DAF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275" b="0">
                <a:solidFill>
                  <a:srgbClr val="8C9DAF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275" b="0">
                <a:solidFill>
                  <a:srgbClr val="8C9DAF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275" b="0">
                <a:solidFill>
                  <a:srgbClr val="8C9DAF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275" b="0">
                <a:solidFill>
                  <a:srgbClr val="8C9DA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8C9DA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8C9DAF"/>
                </a:solidFill>
                <a:latin typeface="Hiragino Sans GB"/>
                <a:ea typeface="Hiragino Sans GB"/>
                <a:cs typeface="Hiragino Sans GB"/>
              </a:rPr>
              <a:t>后续学习</a:t>
            </a:r>
          </a:p>
        </p:txBody>
      </p:sp>
      <p:sp>
        <p:nvSpPr>
          <p:cNvPr id="46" name="text-76">
            <a:extLst xmlns:a="http://schemas.openxmlformats.org/drawingml/2006/main">
              <a:ext uri="{FF2B5EF4-FFF2-40B4-BE49-F238E27FC236}">
                <a16:creationId xmlns:a16="http://schemas.microsoft.com/office/drawing/2014/main" id="{79F0F25B-F16E-478A-B08F-92024972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0"/>
            <a:ext cx="3086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综合应用</a:t>
            </a:r>
          </a:p>
        </p:txBody>
      </p:sp>
      <p:sp>
        <p:nvSpPr>
          <p:cNvPr id="47" name="text-77">
            <a:extLst xmlns:a="http://schemas.openxmlformats.org/drawingml/2006/main">
              <a:ext uri="{FF2B5EF4-FFF2-40B4-BE49-F238E27FC236}">
                <a16:creationId xmlns:a16="http://schemas.microsoft.com/office/drawing/2014/main" id="{63F09E72-2788-4557-977C-13F61798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3124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精益生产、供应链系统、数据分析</a:t>
            </a:r>
          </a:p>
          <a:p xmlns:a="http://schemas.openxmlformats.org/drawingml/2006/main">
            <a:pPr algn="l">
              <a:def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综合项目</a:t>
            </a:r>
          </a:p>
        </p:txBody>
      </p:sp>
      <p:sp>
        <p:nvSpPr>
          <p:cNvPr id="48" name="text-78">
            <a:extLst xmlns:a="http://schemas.openxmlformats.org/drawingml/2006/main">
              <a:ext uri="{FF2B5EF4-FFF2-40B4-BE49-F238E27FC236}">
                <a16:creationId xmlns:a16="http://schemas.microsoft.com/office/drawing/2014/main" id="{26AF2647-D634-47C6-A6BA-E12B848E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学习方法</a:t>
            </a:r>
          </a:p>
        </p:txBody>
      </p:sp>
      <p:sp>
        <p:nvSpPr>
          <p:cNvPr id="49" name="text-79">
            <a:extLst xmlns:a="http://schemas.openxmlformats.org/drawingml/2006/main">
              <a:ext uri="{FF2B5EF4-FFF2-40B4-BE49-F238E27FC236}">
                <a16:creationId xmlns:a16="http://schemas.microsoft.com/office/drawing/2014/main" id="{81A4293B-8C1E-4A54-93F7-36FAA4E2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734050"/>
            <a:ext cx="1638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rPr>
              <a:t>系统学习</a:t>
            </a:r>
          </a:p>
        </p:txBody>
      </p:sp>
      <p:sp>
        <p:nvSpPr>
          <p:cNvPr id="50" name="method-arrow-80">
            <a:extLst xmlns:a="http://schemas.openxmlformats.org/drawingml/2006/main">
              <a:ext uri="{FF2B5EF4-FFF2-40B4-BE49-F238E27FC236}">
                <a16:creationId xmlns:a16="http://schemas.microsoft.com/office/drawing/2014/main" id="{F52F7108-D4F9-419E-B7B9-95D48AAD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829300"/>
            <a:ext cx="2286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ext-81">
            <a:extLst xmlns:a="http://schemas.openxmlformats.org/drawingml/2006/main">
              <a:ext uri="{FF2B5EF4-FFF2-40B4-BE49-F238E27FC236}">
                <a16:creationId xmlns:a16="http://schemas.microsoft.com/office/drawing/2014/main" id="{A69E124A-1620-49B3-8DCC-86A1FA11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734050"/>
            <a:ext cx="1638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rPr>
              <a:t>案例理解</a:t>
            </a:r>
          </a:p>
        </p:txBody>
      </p:sp>
      <p:sp>
        <p:nvSpPr>
          <p:cNvPr id="52" name="method-arrow-82">
            <a:extLst xmlns:a="http://schemas.openxmlformats.org/drawingml/2006/main">
              <a:ext uri="{FF2B5EF4-FFF2-40B4-BE49-F238E27FC236}">
                <a16:creationId xmlns:a16="http://schemas.microsoft.com/office/drawing/2014/main" id="{F1DC95AE-C551-460D-BD68-61A91FEA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829300"/>
            <a:ext cx="2286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text-83">
            <a:extLst xmlns:a="http://schemas.openxmlformats.org/drawingml/2006/main">
              <a:ext uri="{FF2B5EF4-FFF2-40B4-BE49-F238E27FC236}">
                <a16:creationId xmlns:a16="http://schemas.microsoft.com/office/drawing/2014/main" id="{0130AD51-B3E8-4620-BFA4-61F642DE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34050"/>
            <a:ext cx="1638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rPr>
              <a:t>笔记整理</a:t>
            </a:r>
          </a:p>
        </p:txBody>
      </p:sp>
      <p:sp>
        <p:nvSpPr>
          <p:cNvPr id="54" name="method-arrow-84">
            <a:extLst xmlns:a="http://schemas.openxmlformats.org/drawingml/2006/main">
              <a:ext uri="{FF2B5EF4-FFF2-40B4-BE49-F238E27FC236}">
                <a16:creationId xmlns:a16="http://schemas.microsoft.com/office/drawing/2014/main" id="{54C56BBE-61D8-44F5-8188-535737A4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829300"/>
            <a:ext cx="2286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text-85">
            <a:extLst xmlns:a="http://schemas.openxmlformats.org/drawingml/2006/main">
              <a:ext uri="{FF2B5EF4-FFF2-40B4-BE49-F238E27FC236}">
                <a16:creationId xmlns:a16="http://schemas.microsoft.com/office/drawing/2014/main" id="{AE4015D5-9E28-41CA-9F21-35E210AE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734050"/>
            <a:ext cx="1638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rPr>
              <a:t>阶段复盘</a:t>
            </a:r>
          </a:p>
        </p:txBody>
      </p:sp>
      <p:sp>
        <p:nvSpPr>
          <p:cNvPr id="56" name="text-86">
            <a:extLst xmlns:a="http://schemas.openxmlformats.org/drawingml/2006/main">
              <a:ext uri="{FF2B5EF4-FFF2-40B4-BE49-F238E27FC236}">
                <a16:creationId xmlns:a16="http://schemas.microsoft.com/office/drawing/2014/main" id="{0B2DA8B5-247A-4943-8737-90B431F3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贯穿案例：汽车线束制造（教学模拟）</a:t>
            </a:r>
          </a:p>
        </p:txBody>
      </p:sp>
    </p:spTree>
    <p:extLst>
      <p:ext uri="{BB962C8B-B14F-4D97-AF65-F5344CB8AC3E}">
        <p14:creationId xmlns:p14="http://schemas.microsoft.com/office/powerpoint/2010/main" val="16817117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itle-accent-87">
            <a:extLst xmlns:a="http://schemas.openxmlformats.org/drawingml/2006/main">
              <a:ext uri="{FF2B5EF4-FFF2-40B4-BE49-F238E27FC236}">
                <a16:creationId xmlns:a16="http://schemas.microsoft.com/office/drawing/2014/main" id="{CFA30B36-9F59-4FC9-996A-E1E1607E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88">
            <a:extLst xmlns:a="http://schemas.openxmlformats.org/drawingml/2006/main">
              <a:ext uri="{FF2B5EF4-FFF2-40B4-BE49-F238E27FC236}">
                <a16:creationId xmlns:a16="http://schemas.microsoft.com/office/drawing/2014/main" id="{72F5BED4-F837-4508-AB24-80A17C63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知识体系建立｜从业务认知到计划逻辑</a:t>
            </a:r>
          </a:p>
        </p:txBody>
      </p:sp>
      <p:sp>
        <p:nvSpPr>
          <p:cNvPr id="3" name="line-89">
            <a:extLst xmlns:a="http://schemas.openxmlformats.org/drawingml/2006/main">
              <a:ext uri="{FF2B5EF4-FFF2-40B4-BE49-F238E27FC236}">
                <a16:creationId xmlns:a16="http://schemas.microsoft.com/office/drawing/2014/main" id="{76EF50BA-915D-4F85-90C0-03B3CCCD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4" name="text-90">
            <a:extLst xmlns:a="http://schemas.openxmlformats.org/drawingml/2006/main">
              <a:ext uri="{FF2B5EF4-FFF2-40B4-BE49-F238E27FC236}">
                <a16:creationId xmlns:a16="http://schemas.microsoft.com/office/drawing/2014/main" id="{1AEF3263-1197-4BB7-B077-949C285E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PMC 阶段学习汇报</a:t>
            </a:r>
          </a:p>
        </p:txBody>
      </p:sp>
      <p:sp>
        <p:nvSpPr>
          <p:cNvPr id="5" name="text-91">
            <a:extLst xmlns:a="http://schemas.openxmlformats.org/drawingml/2006/main">
              <a:ext uri="{FF2B5EF4-FFF2-40B4-BE49-F238E27FC236}">
                <a16:creationId xmlns:a16="http://schemas.microsoft.com/office/drawing/2014/main" id="{969EFE66-425F-4D13-8F7D-2CEF7538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722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03 / 05</a:t>
            </a:r>
          </a:p>
        </p:txBody>
      </p:sp>
      <p:sp>
        <p:nvSpPr>
          <p:cNvPr id="6" name="text-92">
            <a:extLst xmlns:a="http://schemas.openxmlformats.org/drawingml/2006/main">
              <a:ext uri="{FF2B5EF4-FFF2-40B4-BE49-F238E27FC236}">
                <a16:creationId xmlns:a16="http://schemas.microsoft.com/office/drawing/2014/main" id="{51C1D019-98F8-4AC4-9F20-0DEAB0A7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已学习知识体系</a:t>
            </a:r>
          </a:p>
        </p:txBody>
      </p:sp>
      <p:sp>
        <p:nvSpPr>
          <p:cNvPr id="7" name="text-93">
            <a:extLst xmlns:a="http://schemas.openxmlformats.org/drawingml/2006/main">
              <a:ext uri="{FF2B5EF4-FFF2-40B4-BE49-F238E27FC236}">
                <a16:creationId xmlns:a16="http://schemas.microsoft.com/office/drawing/2014/main" id="{C4CBC4C3-380E-4B45-A17A-3CCB97D9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47775"/>
            <a:ext cx="520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阶段性认知收获</a:t>
            </a:r>
          </a:p>
        </p:txBody>
      </p:sp>
      <p:sp>
        <p:nvSpPr>
          <p:cNvPr id="8" name="card-94">
            <a:extLst xmlns:a="http://schemas.openxmlformats.org/drawingml/2006/main">
              <a:ext uri="{FF2B5EF4-FFF2-40B4-BE49-F238E27FC236}">
                <a16:creationId xmlns:a16="http://schemas.microsoft.com/office/drawing/2014/main" id="{08AE1C9F-A5D8-472E-9E2F-3F65023D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238750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9" name="level-band-95">
            <a:extLst xmlns:a="http://schemas.openxmlformats.org/drawingml/2006/main">
              <a:ext uri="{FF2B5EF4-FFF2-40B4-BE49-F238E27FC236}">
                <a16:creationId xmlns:a16="http://schemas.microsoft.com/office/drawing/2014/main" id="{B13B0057-72BF-4A94-B62A-1141967B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895350" cy="10668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6">
            <a:extLst xmlns:a="http://schemas.openxmlformats.org/drawingml/2006/main">
              <a:ext uri="{FF2B5EF4-FFF2-40B4-BE49-F238E27FC236}">
                <a16:creationId xmlns:a16="http://schemas.microsoft.com/office/drawing/2014/main" id="{BC3662C1-E21B-4C67-B11C-E9C80E78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rPr>
              <a:t>01–02</a:t>
            </a:r>
          </a:p>
        </p:txBody>
      </p:sp>
      <p:sp>
        <p:nvSpPr>
          <p:cNvPr id="11" name="text-97">
            <a:extLst xmlns:a="http://schemas.openxmlformats.org/drawingml/2006/main">
              <a:ext uri="{FF2B5EF4-FFF2-40B4-BE49-F238E27FC236}">
                <a16:creationId xmlns:a16="http://schemas.microsoft.com/office/drawing/2014/main" id="{E4A484D8-73C9-4F62-8242-23E86E54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52625"/>
            <a:ext cx="3943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基础认知</a:t>
            </a:r>
          </a:p>
        </p:txBody>
      </p:sp>
      <p:sp>
        <p:nvSpPr>
          <p:cNvPr id="12" name="text-98">
            <a:extLst xmlns:a="http://schemas.openxmlformats.org/drawingml/2006/main">
              <a:ext uri="{FF2B5EF4-FFF2-40B4-BE49-F238E27FC236}">
                <a16:creationId xmlns:a16="http://schemas.microsoft.com/office/drawing/2014/main" id="{EC45C501-962B-43EC-B52C-4288D6F0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09825"/>
            <a:ext cx="3981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供应链流程、PMC 职责、制造基础数据</a:t>
            </a:r>
          </a:p>
        </p:txBody>
      </p:sp>
      <p:sp>
        <p:nvSpPr>
          <p:cNvPr id="13" name="card-99">
            <a:extLst xmlns:a="http://schemas.openxmlformats.org/drawingml/2006/main">
              <a:ext uri="{FF2B5EF4-FFF2-40B4-BE49-F238E27FC236}">
                <a16:creationId xmlns:a16="http://schemas.microsoft.com/office/drawing/2014/main" id="{F25EB110-DC0B-48CE-BFDC-6090D615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0700"/>
            <a:ext cx="5200650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4" name="text-100">
            <a:extLst xmlns:a="http://schemas.openxmlformats.org/drawingml/2006/main">
              <a:ext uri="{FF2B5EF4-FFF2-40B4-BE49-F238E27FC236}">
                <a16:creationId xmlns:a16="http://schemas.microsoft.com/office/drawing/2014/main" id="{2D7DA40B-C9E4-4B07-A20E-72535D37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0500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业务流程认知</a:t>
            </a:r>
          </a:p>
        </p:txBody>
      </p:sp>
      <p:sp>
        <p:nvSpPr>
          <p:cNvPr id="15" name="text-101">
            <a:extLst xmlns:a="http://schemas.openxmlformats.org/drawingml/2006/main">
              <a:ext uri="{FF2B5EF4-FFF2-40B4-BE49-F238E27FC236}">
                <a16:creationId xmlns:a16="http://schemas.microsoft.com/office/drawing/2014/main" id="{CF1916CF-AAC8-442B-8569-9A69F374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76475"/>
            <a:ext cx="474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理解订单、计划、采购、生产、交付</a:t>
            </a:r>
          </a:p>
          <a:p xmlns:a="http://schemas.openxmlformats.org/drawingml/2006/main">
            <a: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之间的关联</a:t>
            </a:r>
          </a:p>
        </p:txBody>
      </p:sp>
      <p:sp>
        <p:nvSpPr>
          <p:cNvPr id="16" name="card-102">
            <a:extLst xmlns:a="http://schemas.openxmlformats.org/drawingml/2006/main">
              <a:ext uri="{FF2B5EF4-FFF2-40B4-BE49-F238E27FC236}">
                <a16:creationId xmlns:a16="http://schemas.microsoft.com/office/drawing/2014/main" id="{D87542E5-F937-4A2D-9C37-9A40DAB4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5238750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7" name="level-band-103">
            <a:extLst xmlns:a="http://schemas.openxmlformats.org/drawingml/2006/main">
              <a:ext uri="{FF2B5EF4-FFF2-40B4-BE49-F238E27FC236}">
                <a16:creationId xmlns:a16="http://schemas.microsoft.com/office/drawing/2014/main" id="{66FDC3B7-2744-42F2-8007-25254542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895350" cy="10668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04">
            <a:extLst xmlns:a="http://schemas.openxmlformats.org/drawingml/2006/main">
              <a:ext uri="{FF2B5EF4-FFF2-40B4-BE49-F238E27FC236}">
                <a16:creationId xmlns:a16="http://schemas.microsoft.com/office/drawing/2014/main" id="{CF9BEFB3-79BD-4E4F-8BB6-25835006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rPr>
              <a:t>03–04</a:t>
            </a:r>
          </a:p>
        </p:txBody>
      </p:sp>
      <p:sp>
        <p:nvSpPr>
          <p:cNvPr id="19" name="text-105">
            <a:extLst xmlns:a="http://schemas.openxmlformats.org/drawingml/2006/main">
              <a:ext uri="{FF2B5EF4-FFF2-40B4-BE49-F238E27FC236}">
                <a16:creationId xmlns:a16="http://schemas.microsoft.com/office/drawing/2014/main" id="{7F6E9282-F3C6-44ED-8B15-57E34B55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90875"/>
            <a:ext cx="3943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需求与协同</a:t>
            </a:r>
          </a:p>
        </p:txBody>
      </p:sp>
      <p:sp>
        <p:nvSpPr>
          <p:cNvPr id="20" name="text-106">
            <a:extLst xmlns:a="http://schemas.openxmlformats.org/drawingml/2006/main">
              <a:ext uri="{FF2B5EF4-FFF2-40B4-BE49-F238E27FC236}">
                <a16:creationId xmlns:a16="http://schemas.microsoft.com/office/drawing/2014/main" id="{93C178D4-11C2-4DC6-9F63-96AA9BFB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48075"/>
            <a:ext cx="3981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客户需求、预测、S&amp;OP</a:t>
            </a:r>
          </a:p>
        </p:txBody>
      </p:sp>
      <p:sp>
        <p:nvSpPr>
          <p:cNvPr id="21" name="card-107">
            <a:extLst xmlns:a="http://schemas.openxmlformats.org/drawingml/2006/main">
              <a:ext uri="{FF2B5EF4-FFF2-40B4-BE49-F238E27FC236}">
                <a16:creationId xmlns:a16="http://schemas.microsoft.com/office/drawing/2014/main" id="{4CD7B834-888B-49C4-A3A1-B02FDFA2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5200650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22" name="text-108">
            <a:extLst xmlns:a="http://schemas.openxmlformats.org/drawingml/2006/main">
              <a:ext uri="{FF2B5EF4-FFF2-40B4-BE49-F238E27FC236}">
                <a16:creationId xmlns:a16="http://schemas.microsoft.com/office/drawing/2014/main" id="{66094C1B-841C-48A0-A2A3-FD4C3133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4325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基础数据认知</a:t>
            </a:r>
          </a:p>
        </p:txBody>
      </p:sp>
      <p:sp>
        <p:nvSpPr>
          <p:cNvPr id="23" name="text-109">
            <a:extLst xmlns:a="http://schemas.openxmlformats.org/drawingml/2006/main">
              <a:ext uri="{FF2B5EF4-FFF2-40B4-BE49-F238E27FC236}">
                <a16:creationId xmlns:a16="http://schemas.microsoft.com/office/drawing/2014/main" id="{1D644DCD-3610-4E08-82C5-195BD05C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14725"/>
            <a:ext cx="474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认识 BOM、库存、提前期等基础数据</a:t>
            </a:r>
          </a:p>
          <a:p xmlns:a="http://schemas.openxmlformats.org/drawingml/2006/main">
            <a: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对计划的影响</a:t>
            </a:r>
          </a:p>
        </p:txBody>
      </p:sp>
      <p:sp>
        <p:nvSpPr>
          <p:cNvPr id="24" name="card-110">
            <a:extLst xmlns:a="http://schemas.openxmlformats.org/drawingml/2006/main">
              <a:ext uri="{FF2B5EF4-FFF2-40B4-BE49-F238E27FC236}">
                <a16:creationId xmlns:a16="http://schemas.microsoft.com/office/drawing/2014/main" id="{A317C5DE-6FFA-47DF-A6E2-7869326B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5238750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25" name="level-band-111">
            <a:extLst xmlns:a="http://schemas.openxmlformats.org/drawingml/2006/main">
              <a:ext uri="{FF2B5EF4-FFF2-40B4-BE49-F238E27FC236}">
                <a16:creationId xmlns:a16="http://schemas.microsoft.com/office/drawing/2014/main" id="{D466948A-E530-4EDF-90D7-B001F2CF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895350" cy="10668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248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112">
            <a:extLst xmlns:a="http://schemas.openxmlformats.org/drawingml/2006/main">
              <a:ext uri="{FF2B5EF4-FFF2-40B4-BE49-F238E27FC236}">
                <a16:creationId xmlns:a16="http://schemas.microsoft.com/office/drawing/2014/main" id="{56E1C3C9-7A35-494E-9ED6-4D7C778D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05–06</a:t>
            </a:r>
          </a:p>
        </p:txBody>
      </p:sp>
      <p:sp>
        <p:nvSpPr>
          <p:cNvPr id="27" name="text-113">
            <a:extLst xmlns:a="http://schemas.openxmlformats.org/drawingml/2006/main">
              <a:ext uri="{FF2B5EF4-FFF2-40B4-BE49-F238E27FC236}">
                <a16:creationId xmlns:a16="http://schemas.microsoft.com/office/drawing/2014/main" id="{7FB6E055-5228-4AD8-9476-10827407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29125"/>
            <a:ext cx="3943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计划管理</a:t>
            </a:r>
          </a:p>
        </p:txBody>
      </p:sp>
      <p:sp>
        <p:nvSpPr>
          <p:cNvPr id="28" name="text-114">
            <a:extLst xmlns:a="http://schemas.openxmlformats.org/drawingml/2006/main">
              <a:ext uri="{FF2B5EF4-FFF2-40B4-BE49-F238E27FC236}">
                <a16:creationId xmlns:a16="http://schemas.microsoft.com/office/drawing/2014/main" id="{726366EB-CB93-4DAB-BEA5-9D45EBFE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3981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MPS、MRP、计划逻辑</a:t>
            </a:r>
          </a:p>
        </p:txBody>
      </p:sp>
      <p:sp>
        <p:nvSpPr>
          <p:cNvPr id="29" name="card-115">
            <a:extLst xmlns:a="http://schemas.openxmlformats.org/drawingml/2006/main">
              <a:ext uri="{FF2B5EF4-FFF2-40B4-BE49-F238E27FC236}">
                <a16:creationId xmlns:a16="http://schemas.microsoft.com/office/drawing/2014/main" id="{5CEC4E7B-67FE-45A8-83F7-6F2A3BB8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5200650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30" name="text-116">
            <a:extLst xmlns:a="http://schemas.openxmlformats.org/drawingml/2006/main">
              <a:ext uri="{FF2B5EF4-FFF2-40B4-BE49-F238E27FC236}">
                <a16:creationId xmlns:a16="http://schemas.microsoft.com/office/drawing/2014/main" id="{ECB50E15-2966-46A3-80BB-EE0111FB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8150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系统性思维</a:t>
            </a:r>
          </a:p>
        </p:txBody>
      </p:sp>
      <p:sp>
        <p:nvSpPr>
          <p:cNvPr id="31" name="text-117">
            <a:extLst xmlns:a="http://schemas.openxmlformats.org/drawingml/2006/main">
              <a:ext uri="{FF2B5EF4-FFF2-40B4-BE49-F238E27FC236}">
                <a16:creationId xmlns:a16="http://schemas.microsoft.com/office/drawing/2014/main" id="{5649469C-BA8F-4EC0-8A80-4F612C15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52975"/>
            <a:ext cx="474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逐步建立从需求到计划再到执行的</a:t>
            </a:r>
          </a:p>
          <a:p xmlns:a="http://schemas.openxmlformats.org/drawingml/2006/main">
            <a: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整体业务认识</a:t>
            </a:r>
          </a:p>
        </p:txBody>
      </p:sp>
      <p:sp>
        <p:nvSpPr>
          <p:cNvPr id="32" name="card-118">
            <a:extLst xmlns:a="http://schemas.openxmlformats.org/drawingml/2006/main">
              <a:ext uri="{FF2B5EF4-FFF2-40B4-BE49-F238E27FC236}">
                <a16:creationId xmlns:a16="http://schemas.microsoft.com/office/drawing/2014/main" id="{90874A52-92DC-475E-8BDA-A81AD0C2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6000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101F35"/>
            </a:solidFill>
            <a:prstDash val="solid"/>
          </a:ln>
        </p:spPr>
      </p:sp>
      <p:sp>
        <p:nvSpPr>
          <p:cNvPr id="33" name="text-119">
            <a:extLst xmlns:a="http://schemas.openxmlformats.org/drawingml/2006/main">
              <a:ext uri="{FF2B5EF4-FFF2-40B4-BE49-F238E27FC236}">
                <a16:creationId xmlns:a16="http://schemas.microsoft.com/office/drawing/2014/main" id="{AAC00B75-DFFE-474B-825E-C098B04B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9775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从单点概念学习，逐步建立对 PMC 业务流程和计划协同逻辑的系统认识</a:t>
            </a:r>
          </a:p>
        </p:txBody>
      </p:sp>
    </p:spTree>
    <p:extLst>
      <p:ext uri="{BB962C8B-B14F-4D97-AF65-F5344CB8AC3E}">
        <p14:creationId xmlns:p14="http://schemas.microsoft.com/office/powerpoint/2010/main" val="11584228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itle-accent-120">
            <a:extLst xmlns:a="http://schemas.openxmlformats.org/drawingml/2006/main">
              <a:ext uri="{FF2B5EF4-FFF2-40B4-BE49-F238E27FC236}">
                <a16:creationId xmlns:a16="http://schemas.microsoft.com/office/drawing/2014/main" id="{69235969-C9C5-41AA-B893-AB85949A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21">
            <a:extLst xmlns:a="http://schemas.openxmlformats.org/drawingml/2006/main">
              <a:ext uri="{FF2B5EF4-FFF2-40B4-BE49-F238E27FC236}">
                <a16:creationId xmlns:a16="http://schemas.microsoft.com/office/drawing/2014/main" id="{55BC7784-EACA-4AA1-A9A6-A49527FE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AI 技术探索｜从工具使用到业务场景思考</a:t>
            </a:r>
          </a:p>
        </p:txBody>
      </p:sp>
      <p:sp>
        <p:nvSpPr>
          <p:cNvPr id="3" name="line-122">
            <a:extLst xmlns:a="http://schemas.openxmlformats.org/drawingml/2006/main">
              <a:ext uri="{FF2B5EF4-FFF2-40B4-BE49-F238E27FC236}">
                <a16:creationId xmlns:a16="http://schemas.microsoft.com/office/drawing/2014/main" id="{11198440-225A-4953-9517-8BA12559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4" name="text-123">
            <a:extLst xmlns:a="http://schemas.openxmlformats.org/drawingml/2006/main">
              <a:ext uri="{FF2B5EF4-FFF2-40B4-BE49-F238E27FC236}">
                <a16:creationId xmlns:a16="http://schemas.microsoft.com/office/drawing/2014/main" id="{03ED6919-5C40-4A7E-8716-6E60958A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PMC 阶段学习汇报</a:t>
            </a:r>
          </a:p>
        </p:txBody>
      </p:sp>
      <p:sp>
        <p:nvSpPr>
          <p:cNvPr id="5" name="text-124">
            <a:extLst xmlns:a="http://schemas.openxmlformats.org/drawingml/2006/main">
              <a:ext uri="{FF2B5EF4-FFF2-40B4-BE49-F238E27FC236}">
                <a16:creationId xmlns:a16="http://schemas.microsoft.com/office/drawing/2014/main" id="{796CDE3D-B81D-409A-8148-50AE73EC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722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04 / 05</a:t>
            </a:r>
          </a:p>
        </p:txBody>
      </p:sp>
      <p:sp>
        <p:nvSpPr>
          <p:cNvPr id="6" name="text-125">
            <a:extLst xmlns:a="http://schemas.openxmlformats.org/drawingml/2006/main">
              <a:ext uri="{FF2B5EF4-FFF2-40B4-BE49-F238E27FC236}">
                <a16:creationId xmlns:a16="http://schemas.microsoft.com/office/drawing/2014/main" id="{2E3E243B-6BFD-4DAA-B6A0-3A403C43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19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AI 工具学习方向</a:t>
            </a:r>
          </a:p>
        </p:txBody>
      </p:sp>
      <p:sp>
        <p:nvSpPr>
          <p:cNvPr id="7" name="text-126">
            <a:extLst xmlns:a="http://schemas.openxmlformats.org/drawingml/2006/main">
              <a:ext uri="{FF2B5EF4-FFF2-40B4-BE49-F238E27FC236}">
                <a16:creationId xmlns:a16="http://schemas.microsoft.com/office/drawing/2014/main" id="{12AAE70E-65FC-4A87-8A6C-71E58C47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5730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潜在业务应用方向</a:t>
            </a:r>
          </a:p>
        </p:txBody>
      </p:sp>
      <p:sp>
        <p:nvSpPr>
          <p:cNvPr id="8" name="text-127">
            <a:extLst xmlns:a="http://schemas.openxmlformats.org/drawingml/2006/main">
              <a:ext uri="{FF2B5EF4-FFF2-40B4-BE49-F238E27FC236}">
                <a16:creationId xmlns:a16="http://schemas.microsoft.com/office/drawing/2014/main" id="{A653005B-5B62-4075-8E0F-3A1C519A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rPr>
              <a:t>探索方向</a:t>
            </a:r>
          </a:p>
        </p:txBody>
      </p:sp>
      <p:sp>
        <p:nvSpPr>
          <p:cNvPr id="9" name="text-128">
            <a:extLst xmlns:a="http://schemas.openxmlformats.org/drawingml/2006/main">
              <a:ext uri="{FF2B5EF4-FFF2-40B4-BE49-F238E27FC236}">
                <a16:creationId xmlns:a16="http://schemas.microsoft.com/office/drawing/2014/main" id="{89969BA3-7128-4BBF-BD92-1F4C196E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47825"/>
            <a:ext cx="510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rPr>
              <a:t>待场景验证</a:t>
            </a:r>
          </a:p>
        </p:txBody>
      </p:sp>
      <p:sp>
        <p:nvSpPr>
          <p:cNvPr id="10" name="card-129">
            <a:extLst xmlns:a="http://schemas.openxmlformats.org/drawingml/2006/main">
              <a:ext uri="{FF2B5EF4-FFF2-40B4-BE49-F238E27FC236}">
                <a16:creationId xmlns:a16="http://schemas.microsoft.com/office/drawing/2014/main" id="{16FCE3E4-2CF6-4085-BB61-88717A8D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105400" cy="952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1" name="card-130">
            <a:extLst xmlns:a="http://schemas.openxmlformats.org/drawingml/2006/main">
              <a:ext uri="{FF2B5EF4-FFF2-40B4-BE49-F238E27FC236}">
                <a16:creationId xmlns:a16="http://schemas.microsoft.com/office/drawing/2014/main" id="{3C84E2A7-67BC-47A0-9C19-6D667460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5105400" cy="952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7E0F3"/>
            </a:solidFill>
            <a:prstDash val="solid"/>
          </a:ln>
        </p:spPr>
      </p:sp>
      <p:sp>
        <p:nvSpPr>
          <p:cNvPr id="12" name="text-131">
            <a:extLst xmlns:a="http://schemas.openxmlformats.org/drawingml/2006/main">
              <a:ext uri="{FF2B5EF4-FFF2-40B4-BE49-F238E27FC236}">
                <a16:creationId xmlns:a16="http://schemas.microsoft.com/office/drawing/2014/main" id="{98D14452-4164-474E-B277-474D7348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62175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AI 知识辅助</a:t>
            </a:r>
          </a:p>
        </p:txBody>
      </p:sp>
      <p:sp>
        <p:nvSpPr>
          <p:cNvPr id="13" name="text-132">
            <a:extLst xmlns:a="http://schemas.openxmlformats.org/drawingml/2006/main">
              <a:ext uri="{FF2B5EF4-FFF2-40B4-BE49-F238E27FC236}">
                <a16:creationId xmlns:a16="http://schemas.microsoft.com/office/drawing/2014/main" id="{F63C78A4-CA17-440C-97EC-72C9144D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64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知识检索、归纳总结、学习辅助</a:t>
            </a:r>
          </a:p>
        </p:txBody>
      </p:sp>
      <p:sp>
        <p:nvSpPr>
          <p:cNvPr id="14" name="capability-application-arrow-133">
            <a:extLst xmlns:a="http://schemas.openxmlformats.org/drawingml/2006/main">
              <a:ext uri="{FF2B5EF4-FFF2-40B4-BE49-F238E27FC236}">
                <a16:creationId xmlns:a16="http://schemas.microsoft.com/office/drawing/2014/main" id="{01526453-1A1C-4EF3-AF95-31BB0B1F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66975"/>
            <a:ext cx="3429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34">
            <a:extLst xmlns:a="http://schemas.openxmlformats.org/drawingml/2006/main">
              <a:ext uri="{FF2B5EF4-FFF2-40B4-BE49-F238E27FC236}">
                <a16:creationId xmlns:a16="http://schemas.microsoft.com/office/drawing/2014/main" id="{E93CA41C-0116-415D-82A3-2DC0BD70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62175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智能化辅助</a:t>
            </a:r>
          </a:p>
        </p:txBody>
      </p:sp>
      <p:sp>
        <p:nvSpPr>
          <p:cNvPr id="16" name="text-135">
            <a:extLst xmlns:a="http://schemas.openxmlformats.org/drawingml/2006/main">
              <a:ext uri="{FF2B5EF4-FFF2-40B4-BE49-F238E27FC236}">
                <a16:creationId xmlns:a16="http://schemas.microsoft.com/office/drawing/2014/main" id="{29026512-B835-428A-9ECF-654F8917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90800"/>
            <a:ext cx="464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知识问答、流程辅助、信息提取</a:t>
            </a:r>
          </a:p>
        </p:txBody>
      </p:sp>
      <p:sp>
        <p:nvSpPr>
          <p:cNvPr id="17" name="card-136">
            <a:extLst xmlns:a="http://schemas.openxmlformats.org/drawingml/2006/main">
              <a:ext uri="{FF2B5EF4-FFF2-40B4-BE49-F238E27FC236}">
                <a16:creationId xmlns:a16="http://schemas.microsoft.com/office/drawing/2014/main" id="{2F954334-3C28-402E-8FE0-037485D7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5105400" cy="952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8" name="card-137">
            <a:extLst xmlns:a="http://schemas.openxmlformats.org/drawingml/2006/main">
              <a:ext uri="{FF2B5EF4-FFF2-40B4-BE49-F238E27FC236}">
                <a16:creationId xmlns:a16="http://schemas.microsoft.com/office/drawing/2014/main" id="{54953A15-4AD2-4BA2-BE03-0BC11F7F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52775"/>
            <a:ext cx="5105400" cy="952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7E0F3"/>
            </a:solidFill>
            <a:prstDash val="solid"/>
          </a:ln>
        </p:spPr>
      </p:sp>
      <p:sp>
        <p:nvSpPr>
          <p:cNvPr id="19" name="text-138">
            <a:extLst xmlns:a="http://schemas.openxmlformats.org/drawingml/2006/main">
              <a:ext uri="{FF2B5EF4-FFF2-40B4-BE49-F238E27FC236}">
                <a16:creationId xmlns:a16="http://schemas.microsoft.com/office/drawing/2014/main" id="{E43B71CF-B7DD-455A-A47A-5B5CE54D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67075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AI 编程辅助</a:t>
            </a:r>
          </a:p>
        </p:txBody>
      </p:sp>
      <p:sp>
        <p:nvSpPr>
          <p:cNvPr id="20" name="text-139">
            <a:extLst xmlns:a="http://schemas.openxmlformats.org/drawingml/2006/main">
              <a:ext uri="{FF2B5EF4-FFF2-40B4-BE49-F238E27FC236}">
                <a16:creationId xmlns:a16="http://schemas.microsoft.com/office/drawing/2014/main" id="{9049C23F-5A16-47D1-97DB-2696FFF8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464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代码生成、调试、数据处理</a:t>
            </a:r>
          </a:p>
        </p:txBody>
      </p:sp>
      <p:sp>
        <p:nvSpPr>
          <p:cNvPr id="21" name="capability-application-arrow-140">
            <a:extLst xmlns:a="http://schemas.openxmlformats.org/drawingml/2006/main">
              <a:ext uri="{FF2B5EF4-FFF2-40B4-BE49-F238E27FC236}">
                <a16:creationId xmlns:a16="http://schemas.microsoft.com/office/drawing/2014/main" id="{4247A10A-3184-45AB-9B00-2072EA3E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71875"/>
            <a:ext cx="3429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141">
            <a:extLst xmlns:a="http://schemas.openxmlformats.org/drawingml/2006/main">
              <a:ext uri="{FF2B5EF4-FFF2-40B4-BE49-F238E27FC236}">
                <a16:creationId xmlns:a16="http://schemas.microsoft.com/office/drawing/2014/main" id="{13884ECA-539B-4011-A5FD-101A843D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67075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数据处理</a:t>
            </a:r>
          </a:p>
        </p:txBody>
      </p:sp>
      <p:sp>
        <p:nvSpPr>
          <p:cNvPr id="23" name="text-142">
            <a:extLst xmlns:a="http://schemas.openxmlformats.org/drawingml/2006/main">
              <a:ext uri="{FF2B5EF4-FFF2-40B4-BE49-F238E27FC236}">
                <a16:creationId xmlns:a16="http://schemas.microsoft.com/office/drawing/2014/main" id="{18DC11BF-71F8-4CD3-B53A-D355805E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464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Excel 数据整理、自动化报表</a:t>
            </a:r>
          </a:p>
        </p:txBody>
      </p:sp>
      <p:sp>
        <p:nvSpPr>
          <p:cNvPr id="24" name="card-143">
            <a:extLst xmlns:a="http://schemas.openxmlformats.org/drawingml/2006/main">
              <a:ext uri="{FF2B5EF4-FFF2-40B4-BE49-F238E27FC236}">
                <a16:creationId xmlns:a16="http://schemas.microsoft.com/office/drawing/2014/main" id="{0B98F7F4-E565-41A0-AB80-CD45DB51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5105400" cy="952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25" name="card-144">
            <a:extLst xmlns:a="http://schemas.openxmlformats.org/drawingml/2006/main">
              <a:ext uri="{FF2B5EF4-FFF2-40B4-BE49-F238E27FC236}">
                <a16:creationId xmlns:a16="http://schemas.microsoft.com/office/drawing/2014/main" id="{2B1DF186-BF52-4631-8811-9C31989F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7675"/>
            <a:ext cx="5105400" cy="952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7E0F3"/>
            </a:solidFill>
            <a:prstDash val="solid"/>
          </a:ln>
        </p:spPr>
      </p:sp>
      <p:sp>
        <p:nvSpPr>
          <p:cNvPr id="26" name="text-145">
            <a:extLst xmlns:a="http://schemas.openxmlformats.org/drawingml/2006/main">
              <a:ext uri="{FF2B5EF4-FFF2-40B4-BE49-F238E27FC236}">
                <a16:creationId xmlns:a16="http://schemas.microsoft.com/office/drawing/2014/main" id="{2FE750DC-CC83-406E-BABD-0F112B54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71975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Agent 与工作流</a:t>
            </a:r>
          </a:p>
        </p:txBody>
      </p:sp>
      <p:sp>
        <p:nvSpPr>
          <p:cNvPr id="27" name="text-146">
            <a:extLst xmlns:a="http://schemas.openxmlformats.org/drawingml/2006/main">
              <a:ext uri="{FF2B5EF4-FFF2-40B4-BE49-F238E27FC236}">
                <a16:creationId xmlns:a16="http://schemas.microsoft.com/office/drawing/2014/main" id="{C2F913A3-FBFA-43A9-A81F-C81496B0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464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Skill、MCP、工具调用、自动化探索</a:t>
            </a:r>
          </a:p>
        </p:txBody>
      </p:sp>
      <p:sp>
        <p:nvSpPr>
          <p:cNvPr id="28" name="capability-application-arrow-147">
            <a:extLst xmlns:a="http://schemas.openxmlformats.org/drawingml/2006/main">
              <a:ext uri="{FF2B5EF4-FFF2-40B4-BE49-F238E27FC236}">
                <a16:creationId xmlns:a16="http://schemas.microsoft.com/office/drawing/2014/main" id="{C10EA6F3-C6CB-4EF1-A1E5-9E2D40B6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76775"/>
            <a:ext cx="3429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148">
            <a:extLst xmlns:a="http://schemas.openxmlformats.org/drawingml/2006/main">
              <a:ext uri="{FF2B5EF4-FFF2-40B4-BE49-F238E27FC236}">
                <a16:creationId xmlns:a16="http://schemas.microsoft.com/office/drawing/2014/main" id="{740AEBF0-0C0A-4A6C-A293-58B8B698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71975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业务分析</a:t>
            </a:r>
          </a:p>
        </p:txBody>
      </p:sp>
      <p:sp>
        <p:nvSpPr>
          <p:cNvPr id="30" name="text-149">
            <a:extLst xmlns:a="http://schemas.openxmlformats.org/drawingml/2006/main">
              <a:ext uri="{FF2B5EF4-FFF2-40B4-BE49-F238E27FC236}">
                <a16:creationId xmlns:a16="http://schemas.microsoft.com/office/drawing/2014/main" id="{1A1B436D-AEA7-4153-91DC-2AEBF8FC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00600"/>
            <a:ext cx="464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库存、缺料、交付异常辅助分析</a:t>
            </a:r>
          </a:p>
        </p:txBody>
      </p:sp>
      <p:sp>
        <p:nvSpPr>
          <p:cNvPr id="31" name="text-150">
            <a:extLst xmlns:a="http://schemas.openxmlformats.org/drawingml/2006/main">
              <a:ext uri="{FF2B5EF4-FFF2-40B4-BE49-F238E27FC236}">
                <a16:creationId xmlns:a16="http://schemas.microsoft.com/office/drawing/2014/main" id="{4DAC746F-4CA1-4E48-BB79-8E8F4EC2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工具示例：ChatGPT、Codex。以上为探索设想，未作为已落地成果或能力认证。</a:t>
            </a:r>
          </a:p>
        </p:txBody>
      </p:sp>
      <p:sp>
        <p:nvSpPr>
          <p:cNvPr id="32" name="card-151">
            <a:extLst xmlns:a="http://schemas.openxmlformats.org/drawingml/2006/main">
              <a:ext uri="{FF2B5EF4-FFF2-40B4-BE49-F238E27FC236}">
                <a16:creationId xmlns:a16="http://schemas.microsoft.com/office/drawing/2014/main" id="{66AD2AA6-8DFC-4D95-9C1E-5FF567F9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85775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101F35"/>
            </a:solidFill>
            <a:prstDash val="solid"/>
          </a:ln>
        </p:spPr>
      </p:sp>
      <p:sp>
        <p:nvSpPr>
          <p:cNvPr id="33" name="text-152">
            <a:extLst xmlns:a="http://schemas.openxmlformats.org/drawingml/2006/main">
              <a:ext uri="{FF2B5EF4-FFF2-40B4-BE49-F238E27FC236}">
                <a16:creationId xmlns:a16="http://schemas.microsoft.com/office/drawing/2014/main" id="{E1C93C14-6BAE-4963-B32A-7DE4731C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1051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以实际业务问题为出发点，探索 AI、编程与数据分析工具的适用场景</a:t>
            </a:r>
          </a:p>
        </p:txBody>
      </p:sp>
    </p:spTree>
    <p:extLst>
      <p:ext uri="{BB962C8B-B14F-4D97-AF65-F5344CB8AC3E}">
        <p14:creationId xmlns:p14="http://schemas.microsoft.com/office/powerpoint/2010/main" val="12624805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title-accent-153">
            <a:extLst xmlns:a="http://schemas.openxmlformats.org/drawingml/2006/main">
              <a:ext uri="{FF2B5EF4-FFF2-40B4-BE49-F238E27FC236}">
                <a16:creationId xmlns:a16="http://schemas.microsoft.com/office/drawing/2014/main" id="{1C853C48-85BB-43AA-BF04-D3D396CD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54">
            <a:extLst xmlns:a="http://schemas.openxmlformats.org/drawingml/2006/main">
              <a:ext uri="{FF2B5EF4-FFF2-40B4-BE49-F238E27FC236}">
                <a16:creationId xmlns:a16="http://schemas.microsoft.com/office/drawing/2014/main" id="{1F80094C-C668-42C1-8E8D-806B1BD5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下一阶段规划｜深化业务理解，探索技术赋能</a:t>
            </a:r>
          </a:p>
        </p:txBody>
      </p:sp>
      <p:sp>
        <p:nvSpPr>
          <p:cNvPr id="3" name="line-155">
            <a:extLst xmlns:a="http://schemas.openxmlformats.org/drawingml/2006/main">
              <a:ext uri="{FF2B5EF4-FFF2-40B4-BE49-F238E27FC236}">
                <a16:creationId xmlns:a16="http://schemas.microsoft.com/office/drawing/2014/main" id="{88E1D637-30CC-4229-BC4A-F8E1A9BA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4" name="text-156">
            <a:extLst xmlns:a="http://schemas.openxmlformats.org/drawingml/2006/main">
              <a:ext uri="{FF2B5EF4-FFF2-40B4-BE49-F238E27FC236}">
                <a16:creationId xmlns:a16="http://schemas.microsoft.com/office/drawing/2014/main" id="{65B4EEEA-1F95-4D01-8BB1-54567B64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PMC 阶段学习汇报</a:t>
            </a:r>
          </a:p>
        </p:txBody>
      </p:sp>
      <p:sp>
        <p:nvSpPr>
          <p:cNvPr id="5" name="text-157">
            <a:extLst xmlns:a="http://schemas.openxmlformats.org/drawingml/2006/main">
              <a:ext uri="{FF2B5EF4-FFF2-40B4-BE49-F238E27FC236}">
                <a16:creationId xmlns:a16="http://schemas.microsoft.com/office/drawing/2014/main" id="{ECDF4D2F-7EB0-4439-93A9-8B8F2AA9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722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05 / 05</a:t>
            </a:r>
          </a:p>
        </p:txBody>
      </p:sp>
      <p:sp>
        <p:nvSpPr>
          <p:cNvPr id="6" name="text-158">
            <a:extLst xmlns:a="http://schemas.openxmlformats.org/drawingml/2006/main">
              <a:ext uri="{FF2B5EF4-FFF2-40B4-BE49-F238E27FC236}">
                <a16:creationId xmlns:a16="http://schemas.microsoft.com/office/drawing/2014/main" id="{C904CE21-6848-4240-9034-0C773558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PMC 业务能力深化</a:t>
            </a:r>
          </a:p>
        </p:txBody>
      </p:sp>
      <p:sp>
        <p:nvSpPr>
          <p:cNvPr id="7" name="text-159">
            <a:extLst xmlns:a="http://schemas.openxmlformats.org/drawingml/2006/main">
              <a:ext uri="{FF2B5EF4-FFF2-40B4-BE49-F238E27FC236}">
                <a16:creationId xmlns:a16="http://schemas.microsoft.com/office/drawing/2014/main" id="{DA36349D-5F99-4627-BD8C-704C5434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5730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AI 技术应用探索</a:t>
            </a:r>
          </a:p>
        </p:txBody>
      </p:sp>
      <p:sp>
        <p:nvSpPr>
          <p:cNvPr id="8" name="line-160">
            <a:extLst xmlns:a="http://schemas.openxmlformats.org/drawingml/2006/main">
              <a:ext uri="{FF2B5EF4-FFF2-40B4-BE49-F238E27FC236}">
                <a16:creationId xmlns:a16="http://schemas.microsoft.com/office/drawing/2014/main" id="{34B23137-F8CC-477A-9F5A-F1B2465A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19300"/>
            <a:ext cx="0" cy="190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ED4E6"/>
            </a:solidFill>
            <a:prstDash val="solid"/>
          </a:ln>
        </p:spPr>
      </p:sp>
      <p:sp>
        <p:nvSpPr>
          <p:cNvPr id="9" name="line-161">
            <a:extLst xmlns:a="http://schemas.openxmlformats.org/drawingml/2006/main">
              <a:ext uri="{FF2B5EF4-FFF2-40B4-BE49-F238E27FC236}">
                <a16:creationId xmlns:a16="http://schemas.microsoft.com/office/drawing/2014/main" id="{CBC5AB9D-41D2-4EC8-AD64-4B1F6DD5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019300"/>
            <a:ext cx="0" cy="190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ED4E6"/>
            </a:solidFill>
            <a:prstDash val="solid"/>
          </a:ln>
        </p:spPr>
      </p:sp>
      <p:sp>
        <p:nvSpPr>
          <p:cNvPr id="10" name="timeline-node-162">
            <a:extLst xmlns:a="http://schemas.openxmlformats.org/drawingml/2006/main">
              <a:ext uri="{FF2B5EF4-FFF2-40B4-BE49-F238E27FC236}">
                <a16:creationId xmlns:a16="http://schemas.microsoft.com/office/drawing/2014/main" id="{14E2CBFA-2D0E-4986-9E36-60C505C4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7D0"/>
          </a:solidFill>
          <a:ln xmlns:a="http://schemas.openxmlformats.org/drawingml/2006/main" w="9525">
            <a:solidFill>
              <a:srgbClr val="F3F6FA"/>
            </a:solidFill>
            <a:prstDash val="solid"/>
          </a:ln>
        </p:spPr>
      </p:sp>
      <p:sp>
        <p:nvSpPr>
          <p:cNvPr id="11" name="card-163">
            <a:extLst xmlns:a="http://schemas.openxmlformats.org/drawingml/2006/main">
              <a:ext uri="{FF2B5EF4-FFF2-40B4-BE49-F238E27FC236}">
                <a16:creationId xmlns:a16="http://schemas.microsoft.com/office/drawing/2014/main" id="{97BC251C-9392-42D0-9958-A79741D4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90700"/>
            <a:ext cx="4514850" cy="685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2" name="text-164">
            <a:extLst xmlns:a="http://schemas.openxmlformats.org/drawingml/2006/main">
              <a:ext uri="{FF2B5EF4-FFF2-40B4-BE49-F238E27FC236}">
                <a16:creationId xmlns:a16="http://schemas.microsoft.com/office/drawing/2014/main" id="{C8016A4B-D11F-47F9-90F3-78FCD13D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669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rPr>
              <a:t>近期</a:t>
            </a:r>
          </a:p>
        </p:txBody>
      </p:sp>
      <p:sp>
        <p:nvSpPr>
          <p:cNvPr id="13" name="text-165">
            <a:extLst xmlns:a="http://schemas.openxmlformats.org/drawingml/2006/main">
              <a:ext uri="{FF2B5EF4-FFF2-40B4-BE49-F238E27FC236}">
                <a16:creationId xmlns:a16="http://schemas.microsoft.com/office/drawing/2014/main" id="{E8A59B7E-7C3D-40BE-8A15-D96143F3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145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rPr>
              <a:t>产能、库存、采购、物料控制</a:t>
            </a:r>
          </a:p>
        </p:txBody>
      </p:sp>
      <p:sp>
        <p:nvSpPr>
          <p:cNvPr id="14" name="timeline-node-166">
            <a:extLst xmlns:a="http://schemas.openxmlformats.org/drawingml/2006/main">
              <a:ext uri="{FF2B5EF4-FFF2-40B4-BE49-F238E27FC236}">
                <a16:creationId xmlns:a16="http://schemas.microsoft.com/office/drawing/2014/main" id="{883F505D-60DC-4863-AEE9-20A7C7F0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002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7D0"/>
          </a:solidFill>
          <a:ln xmlns:a="http://schemas.openxmlformats.org/drawingml/2006/main" w="9525">
            <a:solidFill>
              <a:srgbClr val="F3F6FA"/>
            </a:solidFill>
            <a:prstDash val="solid"/>
          </a:ln>
        </p:spPr>
      </p:sp>
      <p:sp>
        <p:nvSpPr>
          <p:cNvPr id="15" name="card-167">
            <a:extLst xmlns:a="http://schemas.openxmlformats.org/drawingml/2006/main">
              <a:ext uri="{FF2B5EF4-FFF2-40B4-BE49-F238E27FC236}">
                <a16:creationId xmlns:a16="http://schemas.microsoft.com/office/drawing/2014/main" id="{728712EC-20E4-46B0-84BD-4DD11518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90700"/>
            <a:ext cx="4514850" cy="685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6" name="text-168">
            <a:extLst xmlns:a="http://schemas.openxmlformats.org/drawingml/2006/main">
              <a:ext uri="{FF2B5EF4-FFF2-40B4-BE49-F238E27FC236}">
                <a16:creationId xmlns:a16="http://schemas.microsoft.com/office/drawing/2014/main" id="{A01DF8C5-C1C5-4E89-BBA5-5974B4BE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rPr>
              <a:t>近期</a:t>
            </a:r>
          </a:p>
        </p:txBody>
      </p:sp>
      <p:sp>
        <p:nvSpPr>
          <p:cNvPr id="17" name="text-169">
            <a:extLst xmlns:a="http://schemas.openxmlformats.org/drawingml/2006/main">
              <a:ext uri="{FF2B5EF4-FFF2-40B4-BE49-F238E27FC236}">
                <a16:creationId xmlns:a16="http://schemas.microsoft.com/office/drawing/2014/main" id="{CD44D7A7-CDB6-4A9E-B014-F457E8FA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rPr>
              <a:t>深化 AI 工具与编程应用</a:t>
            </a:r>
          </a:p>
        </p:txBody>
      </p:sp>
      <p:sp>
        <p:nvSpPr>
          <p:cNvPr id="18" name="timeline-node-170">
            <a:extLst xmlns:a="http://schemas.openxmlformats.org/drawingml/2006/main">
              <a:ext uri="{FF2B5EF4-FFF2-40B4-BE49-F238E27FC236}">
                <a16:creationId xmlns:a16="http://schemas.microsoft.com/office/drawing/2014/main" id="{4AC6F8C8-ADD8-4661-885B-0F24B264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B9ED"/>
          </a:solidFill>
          <a:ln xmlns:a="http://schemas.openxmlformats.org/drawingml/2006/main" w="9525">
            <a:solidFill>
              <a:srgbClr val="F3F6FA"/>
            </a:solidFill>
            <a:prstDash val="solid"/>
          </a:ln>
        </p:spPr>
      </p:sp>
      <p:sp>
        <p:nvSpPr>
          <p:cNvPr id="19" name="card-171">
            <a:extLst xmlns:a="http://schemas.openxmlformats.org/drawingml/2006/main">
              <a:ext uri="{FF2B5EF4-FFF2-40B4-BE49-F238E27FC236}">
                <a16:creationId xmlns:a16="http://schemas.microsoft.com/office/drawing/2014/main" id="{CD843FB9-21BD-4500-B8CB-5E01F2B5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4514850" cy="685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20" name="text-172">
            <a:extLst xmlns:a="http://schemas.openxmlformats.org/drawingml/2006/main">
              <a:ext uri="{FF2B5EF4-FFF2-40B4-BE49-F238E27FC236}">
                <a16:creationId xmlns:a16="http://schemas.microsoft.com/office/drawing/2014/main" id="{7BB37C25-A2AC-4D39-8D8A-11E277B2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051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rPr>
              <a:t>中期</a:t>
            </a:r>
          </a:p>
        </p:txBody>
      </p:sp>
      <p:sp>
        <p:nvSpPr>
          <p:cNvPr id="21" name="text-173">
            <a:extLst xmlns:a="http://schemas.openxmlformats.org/drawingml/2006/main">
              <a:ext uri="{FF2B5EF4-FFF2-40B4-BE49-F238E27FC236}">
                <a16:creationId xmlns:a16="http://schemas.microsoft.com/office/drawing/2014/main" id="{F2478357-D39B-4E2F-9E8A-BD90C83B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527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rPr>
              <a:t>生产控制、排程、精益生产</a:t>
            </a:r>
          </a:p>
        </p:txBody>
      </p:sp>
      <p:sp>
        <p:nvSpPr>
          <p:cNvPr id="22" name="timeline-node-174">
            <a:extLst xmlns:a="http://schemas.openxmlformats.org/drawingml/2006/main">
              <a:ext uri="{FF2B5EF4-FFF2-40B4-BE49-F238E27FC236}">
                <a16:creationId xmlns:a16="http://schemas.microsoft.com/office/drawing/2014/main" id="{F31E9FCB-F5EA-436E-8774-8381EE60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B9ED"/>
          </a:solidFill>
          <a:ln xmlns:a="http://schemas.openxmlformats.org/drawingml/2006/main" w="9525">
            <a:solidFill>
              <a:srgbClr val="F3F6FA"/>
            </a:solidFill>
            <a:prstDash val="solid"/>
          </a:ln>
        </p:spPr>
      </p:sp>
      <p:sp>
        <p:nvSpPr>
          <p:cNvPr id="23" name="card-175">
            <a:extLst xmlns:a="http://schemas.openxmlformats.org/drawingml/2006/main">
              <a:ext uri="{FF2B5EF4-FFF2-40B4-BE49-F238E27FC236}">
                <a16:creationId xmlns:a16="http://schemas.microsoft.com/office/drawing/2014/main" id="{D5294336-7E4F-4C3B-8229-CE51B448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28900"/>
            <a:ext cx="4514850" cy="685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24" name="text-176">
            <a:extLst xmlns:a="http://schemas.openxmlformats.org/drawingml/2006/main">
              <a:ext uri="{FF2B5EF4-FFF2-40B4-BE49-F238E27FC236}">
                <a16:creationId xmlns:a16="http://schemas.microsoft.com/office/drawing/2014/main" id="{7F7DD3B1-F52E-4699-A753-7B0978B2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rPr>
              <a:t>中期</a:t>
            </a:r>
          </a:p>
        </p:txBody>
      </p:sp>
      <p:sp>
        <p:nvSpPr>
          <p:cNvPr id="25" name="text-177">
            <a:extLst xmlns:a="http://schemas.openxmlformats.org/drawingml/2006/main">
              <a:ext uri="{FF2B5EF4-FFF2-40B4-BE49-F238E27FC236}">
                <a16:creationId xmlns:a16="http://schemas.microsoft.com/office/drawing/2014/main" id="{33C0C545-6530-4376-A29F-43E75550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rPr>
              <a:t>选择具体业务场景开展验证</a:t>
            </a:r>
          </a:p>
        </p:txBody>
      </p:sp>
      <p:sp>
        <p:nvSpPr>
          <p:cNvPr id="26" name="timeline-node-178">
            <a:extLst xmlns:a="http://schemas.openxmlformats.org/drawingml/2006/main">
              <a:ext uri="{FF2B5EF4-FFF2-40B4-BE49-F238E27FC236}">
                <a16:creationId xmlns:a16="http://schemas.microsoft.com/office/drawing/2014/main" id="{337261E0-4B29-427D-A396-F7B793B0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B9ED"/>
          </a:solidFill>
          <a:ln xmlns:a="http://schemas.openxmlformats.org/drawingml/2006/main" w="9525">
            <a:solidFill>
              <a:srgbClr val="F3F6FA"/>
            </a:solidFill>
            <a:prstDash val="solid"/>
          </a:ln>
        </p:spPr>
      </p:sp>
      <p:sp>
        <p:nvSpPr>
          <p:cNvPr id="27" name="card-179">
            <a:extLst xmlns:a="http://schemas.openxmlformats.org/drawingml/2006/main">
              <a:ext uri="{FF2B5EF4-FFF2-40B4-BE49-F238E27FC236}">
                <a16:creationId xmlns:a16="http://schemas.microsoft.com/office/drawing/2014/main" id="{C469C7DC-957B-4F56-8E0D-7942A999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67100"/>
            <a:ext cx="4514850" cy="685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28" name="text-180">
            <a:extLst xmlns:a="http://schemas.openxmlformats.org/drawingml/2006/main">
              <a:ext uri="{FF2B5EF4-FFF2-40B4-BE49-F238E27FC236}">
                <a16:creationId xmlns:a16="http://schemas.microsoft.com/office/drawing/2014/main" id="{1C161DBE-0569-4376-97D6-E52034B2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433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rPr>
              <a:t>后期</a:t>
            </a:r>
          </a:p>
        </p:txBody>
      </p:sp>
      <p:sp>
        <p:nvSpPr>
          <p:cNvPr id="29" name="text-181">
            <a:extLst xmlns:a="http://schemas.openxmlformats.org/drawingml/2006/main">
              <a:ext uri="{FF2B5EF4-FFF2-40B4-BE49-F238E27FC236}">
                <a16:creationId xmlns:a16="http://schemas.microsoft.com/office/drawing/2014/main" id="{B06B50B3-FC15-4DEE-A5B0-C201296D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909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rPr>
              <a:t>供应链系统、数据分析、综合项目</a:t>
            </a:r>
          </a:p>
        </p:txBody>
      </p:sp>
      <p:sp>
        <p:nvSpPr>
          <p:cNvPr id="30" name="timeline-node-182">
            <a:extLst xmlns:a="http://schemas.openxmlformats.org/drawingml/2006/main">
              <a:ext uri="{FF2B5EF4-FFF2-40B4-BE49-F238E27FC236}">
                <a16:creationId xmlns:a16="http://schemas.microsoft.com/office/drawing/2014/main" id="{5E4B579A-3F59-4C52-A7D5-146F047E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76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B9ED"/>
          </a:solidFill>
          <a:ln xmlns:a="http://schemas.openxmlformats.org/drawingml/2006/main" w="9525">
            <a:solidFill>
              <a:srgbClr val="F3F6FA"/>
            </a:solidFill>
            <a:prstDash val="solid"/>
          </a:ln>
        </p:spPr>
      </p:sp>
      <p:sp>
        <p:nvSpPr>
          <p:cNvPr id="31" name="card-183">
            <a:extLst xmlns:a="http://schemas.openxmlformats.org/drawingml/2006/main">
              <a:ext uri="{FF2B5EF4-FFF2-40B4-BE49-F238E27FC236}">
                <a16:creationId xmlns:a16="http://schemas.microsoft.com/office/drawing/2014/main" id="{72A1F89D-0F88-48E3-9227-CE28A3C4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67100"/>
            <a:ext cx="4514850" cy="685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32" name="text-184">
            <a:extLst xmlns:a="http://schemas.openxmlformats.org/drawingml/2006/main">
              <a:ext uri="{FF2B5EF4-FFF2-40B4-BE49-F238E27FC236}">
                <a16:creationId xmlns:a16="http://schemas.microsoft.com/office/drawing/2014/main" id="{4198CBC1-53D1-4137-A303-0B173E09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rPr>
              <a:t>后期</a:t>
            </a:r>
          </a:p>
        </p:txBody>
      </p:sp>
      <p:sp>
        <p:nvSpPr>
          <p:cNvPr id="33" name="text-185">
            <a:extLst xmlns:a="http://schemas.openxmlformats.org/drawingml/2006/main">
              <a:ext uri="{FF2B5EF4-FFF2-40B4-BE49-F238E27FC236}">
                <a16:creationId xmlns:a16="http://schemas.microsoft.com/office/drawing/2014/main" id="{A7A55156-182E-48EC-9833-01C317BB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909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rPr>
              <a:t>探索辅助分析工具或自动化方案</a:t>
            </a:r>
          </a:p>
        </p:txBody>
      </p:sp>
      <p:sp>
        <p:nvSpPr>
          <p:cNvPr id="34" name="text-186">
            <a:extLst xmlns:a="http://schemas.openxmlformats.org/drawingml/2006/main">
              <a:ext uri="{FF2B5EF4-FFF2-40B4-BE49-F238E27FC236}">
                <a16:creationId xmlns:a16="http://schemas.microsoft.com/office/drawing/2014/main" id="{44BCFD8B-CCA0-40FE-A73A-19170C8B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5768B"/>
                </a:solidFill>
                <a:latin typeface="Hiragino Sans GB"/>
                <a:ea typeface="Hiragino Sans GB"/>
                <a:cs typeface="Hiragino Sans GB"/>
              </a:rPr>
              <a:t>推进安排：先完成第 4–6 章阶段复盘与综合练习，再按课程路线继续。</a:t>
            </a:r>
          </a:p>
        </p:txBody>
      </p:sp>
      <p:sp>
        <p:nvSpPr>
          <p:cNvPr id="35" name="text-187">
            <a:extLst xmlns:a="http://schemas.openxmlformats.org/drawingml/2006/main">
              <a:ext uri="{FF2B5EF4-FFF2-40B4-BE49-F238E27FC236}">
                <a16:creationId xmlns:a16="http://schemas.microsoft.com/office/drawing/2014/main" id="{2FF5A8AD-BFCE-46C9-954B-AB42E9F3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预期交付成果</a:t>
            </a:r>
          </a:p>
        </p:txBody>
      </p:sp>
      <p:sp>
        <p:nvSpPr>
          <p:cNvPr id="36" name="card-188">
            <a:extLst xmlns:a="http://schemas.openxmlformats.org/drawingml/2006/main">
              <a:ext uri="{FF2B5EF4-FFF2-40B4-BE49-F238E27FC236}">
                <a16:creationId xmlns:a16="http://schemas.microsoft.com/office/drawing/2014/main" id="{D0F54F9C-80EB-49BD-9219-4A7A87CD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3505200" cy="685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7E0F3"/>
            </a:solidFill>
            <a:prstDash val="solid"/>
          </a:ln>
        </p:spPr>
      </p:sp>
      <p:sp>
        <p:nvSpPr>
          <p:cNvPr id="37" name="text-189">
            <a:extLst xmlns:a="http://schemas.openxmlformats.org/drawingml/2006/main">
              <a:ext uri="{FF2B5EF4-FFF2-40B4-BE49-F238E27FC236}">
                <a16:creationId xmlns:a16="http://schemas.microsoft.com/office/drawing/2014/main" id="{7852224E-3070-4C9E-A019-EF290DBF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4827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38" name="text-190">
            <a:extLst xmlns:a="http://schemas.openxmlformats.org/drawingml/2006/main">
              <a:ext uri="{FF2B5EF4-FFF2-40B4-BE49-F238E27FC236}">
                <a16:creationId xmlns:a16="http://schemas.microsoft.com/office/drawing/2014/main" id="{B2950A61-5775-4B90-B5AC-71F2FF63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62550"/>
            <a:ext cx="25431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rPr>
              <a:t>系统化 PMC 学习笔记</a:t>
            </a:r>
          </a:p>
          <a:p xmlns:a="http://schemas.openxmlformats.org/drawingml/2006/main">
            <a: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rPr>
              <a:t>与知识框架</a:t>
            </a:r>
          </a:p>
        </p:txBody>
      </p:sp>
      <p:sp>
        <p:nvSpPr>
          <p:cNvPr id="39" name="card-191">
            <a:extLst xmlns:a="http://schemas.openxmlformats.org/drawingml/2006/main">
              <a:ext uri="{FF2B5EF4-FFF2-40B4-BE49-F238E27FC236}">
                <a16:creationId xmlns:a16="http://schemas.microsoft.com/office/drawing/2014/main" id="{6CC73E6F-7409-4753-BF98-7EF02EB1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95875"/>
            <a:ext cx="3505200" cy="685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7E0F3"/>
            </a:solidFill>
            <a:prstDash val="solid"/>
          </a:ln>
        </p:spPr>
      </p:sp>
      <p:sp>
        <p:nvSpPr>
          <p:cNvPr id="40" name="text-192">
            <a:extLst xmlns:a="http://schemas.openxmlformats.org/drawingml/2006/main">
              <a:ext uri="{FF2B5EF4-FFF2-40B4-BE49-F238E27FC236}">
                <a16:creationId xmlns:a16="http://schemas.microsoft.com/office/drawing/2014/main" id="{4BB772DD-309D-43F6-87E2-9A9141C6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4827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41" name="text-193">
            <a:extLst xmlns:a="http://schemas.openxmlformats.org/drawingml/2006/main">
              <a:ext uri="{FF2B5EF4-FFF2-40B4-BE49-F238E27FC236}">
                <a16:creationId xmlns:a16="http://schemas.microsoft.com/office/drawing/2014/main" id="{FF8FF744-1299-478E-90F5-E221421E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162550"/>
            <a:ext cx="25431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rPr>
              <a:t>汽车线束业务</a:t>
            </a:r>
          </a:p>
          <a:p xmlns:a="http://schemas.openxmlformats.org/drawingml/2006/main">
            <a: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rPr>
              <a:t>综合计划分析案例</a:t>
            </a:r>
          </a:p>
        </p:txBody>
      </p:sp>
      <p:sp>
        <p:nvSpPr>
          <p:cNvPr id="42" name="card-194">
            <a:extLst xmlns:a="http://schemas.openxmlformats.org/drawingml/2006/main">
              <a:ext uri="{FF2B5EF4-FFF2-40B4-BE49-F238E27FC236}">
                <a16:creationId xmlns:a16="http://schemas.microsoft.com/office/drawing/2014/main" id="{EC6BCAB7-6447-4B5F-B103-4D442DC7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95875"/>
            <a:ext cx="3505200" cy="685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7E0F3"/>
            </a:solidFill>
            <a:prstDash val="solid"/>
          </a:ln>
        </p:spPr>
      </p:sp>
      <p:sp>
        <p:nvSpPr>
          <p:cNvPr id="43" name="text-195">
            <a:extLst xmlns:a="http://schemas.openxmlformats.org/drawingml/2006/main">
              <a:ext uri="{FF2B5EF4-FFF2-40B4-BE49-F238E27FC236}">
                <a16:creationId xmlns:a16="http://schemas.microsoft.com/office/drawing/2014/main" id="{F919D44C-6302-44F5-8F47-C0DEB19B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4827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487D0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44" name="text-196">
            <a:extLst xmlns:a="http://schemas.openxmlformats.org/drawingml/2006/main">
              <a:ext uri="{FF2B5EF4-FFF2-40B4-BE49-F238E27FC236}">
                <a16:creationId xmlns:a16="http://schemas.microsoft.com/office/drawing/2014/main" id="{D2590074-EDE1-4744-8363-771742B9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62550"/>
            <a:ext cx="25431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rPr>
              <a:t>AI 辅助数据处理</a:t>
            </a:r>
          </a:p>
          <a:p xmlns:a="http://schemas.openxmlformats.org/drawingml/2006/main">
            <a:pPr algn="l">
              <a:def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43247"/>
                </a:solidFill>
                <a:latin typeface="Hiragino Sans GB"/>
                <a:ea typeface="Hiragino Sans GB"/>
                <a:cs typeface="Hiragino Sans GB"/>
              </a:rPr>
              <a:t>或业务分析原型</a:t>
            </a:r>
          </a:p>
        </p:txBody>
      </p:sp>
      <p:sp>
        <p:nvSpPr>
          <p:cNvPr id="45" name="text-197">
            <a:extLst xmlns:a="http://schemas.openxmlformats.org/drawingml/2006/main">
              <a:ext uri="{FF2B5EF4-FFF2-40B4-BE49-F238E27FC236}">
                <a16:creationId xmlns:a16="http://schemas.microsoft.com/office/drawing/2014/main" id="{9318B465-1FE7-4328-A836-60E77E7B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以业务理解为基础、以数据分析为支撑、以 AI 技术为辅助，</a:t>
            </a:r>
          </a:p>
          <a:p xmlns:a="http://schemas.openxmlformats.org/drawingml/2006/main">
            <a:pPr algn="ctr">
              <a:defRPr sz="17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01F35"/>
                </a:solidFill>
                <a:latin typeface="Hiragino Sans GB"/>
                <a:ea typeface="Hiragino Sans GB"/>
                <a:cs typeface="Hiragino Sans GB"/>
              </a:rPr>
              <a:t>逐步探索专业知识向实际工作价值的转化</a:t>
            </a:r>
          </a:p>
        </p:txBody>
      </p:sp>
    </p:spTree>
    <p:extLst>
      <p:ext uri="{BB962C8B-B14F-4D97-AF65-F5344CB8AC3E}">
        <p14:creationId xmlns:p14="http://schemas.microsoft.com/office/powerpoint/2010/main" val="15883959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2026-10-20T08:08:57.5890000Z</dcterms:created>
  <dcterms:modified xsi:type="dcterms:W3CDTF">2026-10-20T08:08:57.5890000Z</dcterms:modified>
</coreProperties>
</file>