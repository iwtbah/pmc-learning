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c72e3a57604f39" /><Relationship Type="http://schemas.openxmlformats.org/officeDocument/2006/relationships/extended-properties" Target="/docProps/app.xml" Id="Rb7a184039bb14b6e" /><Relationship Type="http://schemas.openxmlformats.org/officeDocument/2006/relationships/officeDocument" Target="/ppt/presentation.xml" Id="Ra1b93167aee94d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07a8efebe3422c"/>
  </p:sldMasterIdLst>
  <p:notesMasterIdLst>
    <p:notesMasterId xmlns:r="http://schemas.openxmlformats.org/officeDocument/2006/relationships" r:id="Ra18c9f0e6813425a"/>
  </p:notesMasterIdLst>
  <p:sldIdLst>
    <p:sldId xmlns:r="http://schemas.openxmlformats.org/officeDocument/2006/relationships" id="256" r:id="R709edc7e516c4967"/>
    <p:sldId xmlns:r="http://schemas.openxmlformats.org/officeDocument/2006/relationships" id="257" r:id="R9007ae85686b43a5"/>
    <p:sldId xmlns:r="http://schemas.openxmlformats.org/officeDocument/2006/relationships" id="258" r:id="Rd66deecec20e46a2"/>
    <p:sldId xmlns:r="http://schemas.openxmlformats.org/officeDocument/2006/relationships" id="259" r:id="R51c98b4b91ce47c9"/>
    <p:sldId xmlns:r="http://schemas.openxmlformats.org/officeDocument/2006/relationships" id="260" r:id="R7aec502ba11a4f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919357f5c54559" /><Relationship Type="http://schemas.openxmlformats.org/officeDocument/2006/relationships/slideMaster" Target="/ppt/slideMasters/slideMaster1.xml" Id="R3007a8efebe3422c" /><Relationship Type="http://schemas.openxmlformats.org/officeDocument/2006/relationships/notesMaster" Target="/ppt/notesMasters/notesMaster1.xml" Id="Ra18c9f0e6813425a" /><Relationship Type="http://schemas.openxmlformats.org/officeDocument/2006/relationships/presProps" Target="/ppt/presProps.xml" Id="R8baac89e3c1c451c" /><Relationship Type="http://schemas.openxmlformats.org/officeDocument/2006/relationships/tableStyles" Target="/ppt/tableStyles.xml" Id="Re2f33f1b26204da7" /><Relationship Type="http://schemas.openxmlformats.org/officeDocument/2006/relationships/slide" Target="/ppt/slides/slide1.xml" Id="R709edc7e516c4967" /><Relationship Type="http://schemas.openxmlformats.org/officeDocument/2006/relationships/slide" Target="/ppt/slides/slide2.xml" Id="R9007ae85686b43a5" /><Relationship Type="http://schemas.openxmlformats.org/officeDocument/2006/relationships/slide" Target="/ppt/slides/slide3.xml" Id="Rd66deecec20e46a2" /><Relationship Type="http://schemas.openxmlformats.org/officeDocument/2006/relationships/slide" Target="/ppt/slides/slide4.xml" Id="R51c98b4b91ce47c9" /><Relationship Type="http://schemas.openxmlformats.org/officeDocument/2006/relationships/slide" Target="/ppt/slides/slide5.xml" Id="R7aec502ba11a4f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c5e5c36f74d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59675dea74b08" /><Relationship Type="http://schemas.openxmlformats.org/officeDocument/2006/relationships/notesMaster" Target="/ppt/notesMasters/notesMaster1.xml" Id="Ra32f90abb2c04c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44c07dee5742a3" /><Relationship Type="http://schemas.openxmlformats.org/officeDocument/2006/relationships/notesMaster" Target="/ppt/notesMasters/notesMaster1.xml" Id="R424728aacea047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6454136e3c4857" /><Relationship Type="http://schemas.openxmlformats.org/officeDocument/2006/relationships/notesMaster" Target="/ppt/notesMasters/notesMaster1.xml" Id="R65a4739337124e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c17aafa1824e2f" /><Relationship Type="http://schemas.openxmlformats.org/officeDocument/2006/relationships/notesMaster" Target="/ppt/notesMasters/notesMaster1.xml" Id="R4cd23231897a4c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e41f9cfbc04502" /><Relationship Type="http://schemas.openxmlformats.org/officeDocument/2006/relationships/notesMaster" Target="/ppt/notesMasters/notesMaster1.xml" Id="Ra2e12a6e164843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依据：工作区《学习目标与计划.md》《学习进度.md》及用户阶段汇报大纲。汇报人为待填写项。业务案例属于教学模拟，不代表真实企业项目。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学习目标与计划.md》第3节课程安排；《学习进度.md》当前学习位置及各章进度总览。8周为计划周期，未作为实际耗时。6÷15=40%仅表示已经覆盖的章节范围。当前6.1～6.6框架已讲解，综合练习尚未开展，第4、5章综合验证也未完成。01～06为已学习范围，07～15为后续学习。综合项目不另计章节。S&amp;OP为销售与运营计划，MPS为主生产计划，MRP为物料需求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学习目标与计划.md》01～06章与《学习进度.md》已讲范围。结构参考用户提供图片中的需求管理、S&amp;OP、MPS、MRP与执行业务链。01～02提供业务和数据基础，03～06沿计划链展开。采购计划、生产执行和物料控制仅表示后续业务关系，不代表相应章节已经学习。认知收获为阶段理解，不代表完整独立操作能力。PMC：生产与物料控制（Production &amp; Material Control）；BOM：物料清单（Bill of Materials）；提前期（Lead Time）。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探索方向及本轮修改要求。已删除AI编程辅助。AI工具学习及业务应用均为探索方向，未宣称已经掌握、落地或取得效率收益。新增业务提效针对重复工作流程，列举资料汇总、核对、流转等候选场景，不作为已完成案例。Skill指可复用技能，MCP指模型上下文协议（Model Context Protocol），Agent指智能体。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MC路线来源：《学习目标与计划.md》第3节课程安排与最终综合项目要求。第4～6章仍有待完成练习，近期先完成阶段复盘。AI应用探索及原型为未来计划，不表示已完成成果，不承诺具体日期或业务收益。预期交付的综合案例使用教学模拟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a9ce983a24f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c6f6e512c4e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a41e417984b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490f2dc2e4a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4b6b2e25a47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67271b4b74c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8829C3-0FFB-47BB-B760-EEF55139F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655E82-243D-4450-B67B-D7F738F574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6C756D-B633-4BF2-A8F9-D995B9AFAE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127117-D089-490F-9042-DA062F502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AB90BF-4B8E-40FD-9DE4-38819B8179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D40527-432E-4E33-98B6-CEFCBA9263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8CF591-1DB5-480E-ABF8-6BF5A53676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8D06E6-DF4B-4A99-BAAD-CB34B1DE85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300844-8020-4E16-8422-8FE5780E3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414D77-DD82-4CC2-8A13-FD902D45CC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9b475247f945c5" /><Relationship Type="http://schemas.openxmlformats.org/officeDocument/2006/relationships/slideLayout" Target="/ppt/slideLayouts/slideLayout1.xml" Id="R21098ce7d61d446d" /><Relationship Type="http://schemas.openxmlformats.org/officeDocument/2006/relationships/slideLayout" Target="/ppt/slideLayouts/slideLayout2.xml" Id="R108b82315e7a4cfe" /><Relationship Type="http://schemas.openxmlformats.org/officeDocument/2006/relationships/slideLayout" Target="/ppt/slideLayouts/slideLayout3.xml" Id="Re3b94da0c4824f43" /><Relationship Type="http://schemas.openxmlformats.org/officeDocument/2006/relationships/slideLayout" Target="/ppt/slideLayouts/slideLayout4.xml" Id="R1c82d6ab5c014f5d" /><Relationship Type="http://schemas.openxmlformats.org/officeDocument/2006/relationships/slideLayout" Target="/ppt/slideLayouts/slideLayout5.xml" Id="R86bbf5809de249f2" /><Relationship Type="http://schemas.openxmlformats.org/officeDocument/2006/relationships/slideLayout" Target="/ppt/slideLayouts/slideLayout6.xml" Id="R58556736a5f74a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098ce7d61d446d"/>
    <p:sldLayoutId xmlns:r="http://schemas.openxmlformats.org/officeDocument/2006/relationships" id="2147483650" r:id="R108b82315e7a4cfe"/>
    <p:sldLayoutId xmlns:r="http://schemas.openxmlformats.org/officeDocument/2006/relationships" id="2147483651" r:id="Re3b94da0c4824f43"/>
    <p:sldLayoutId xmlns:r="http://schemas.openxmlformats.org/officeDocument/2006/relationships" id="2147483652" r:id="R1c82d6ab5c014f5d"/>
    <p:sldLayoutId xmlns:r="http://schemas.openxmlformats.org/officeDocument/2006/relationships" id="2147483653" r:id="R86bbf5809de249f2"/>
    <p:sldLayoutId xmlns:r="http://schemas.openxmlformats.org/officeDocument/2006/relationships" id="2147483654" r:id="R58556736a5f74a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c0282f54243c5" /><Relationship Type="http://schemas.openxmlformats.org/officeDocument/2006/relationships/notesSlide" Target="/ppt/notesSlides/notesSlide1.xml" Id="R47492a0eed2744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e12540e79466b" /><Relationship Type="http://schemas.openxmlformats.org/officeDocument/2006/relationships/notesSlide" Target="/ppt/notesSlides/notesSlide2.xml" Id="R54b27a790718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4ac5c64984a7e" /><Relationship Type="http://schemas.openxmlformats.org/officeDocument/2006/relationships/notesSlide" Target="/ppt/notesSlides/notesSlide3.xml" Id="R68b30111ee7d41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8d1cb353d45d2" /><Relationship Type="http://schemas.openxmlformats.org/officeDocument/2006/relationships/notesSlide" Target="/ppt/notesSlides/notesSlide4.xml" Id="R829313417bfc4c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fa25fa1264f49" /><Relationship Type="http://schemas.openxmlformats.org/officeDocument/2006/relationships/notesSlide" Target="/ppt/notesSlides/notesSlide5.xml" Id="Rd11b09b5acfe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lement-1">
            <a:extLst xmlns:a="http://schemas.openxmlformats.org/drawingml/2006/main">
              <a:ext uri="{FF2B5EF4-FFF2-40B4-BE49-F238E27FC236}">
                <a16:creationId xmlns:a16="http://schemas.microsoft.com/office/drawing/2014/main" id="{AB64D5E1-153C-4531-905F-3A8F97CF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9525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PMC 业务学习阶段总结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 AI 技术应用探索</a:t>
            </a:r>
          </a:p>
        </p:txBody>
      </p:sp>
      <p:sp>
        <p:nvSpPr>
          <p:cNvPr id="2" name="element-2">
            <a:extLst xmlns:a="http://schemas.openxmlformats.org/drawingml/2006/main">
              <a:ext uri="{FF2B5EF4-FFF2-40B4-BE49-F238E27FC236}">
                <a16:creationId xmlns:a16="http://schemas.microsoft.com/office/drawing/2014/main" id="{45F0881A-BE8C-485E-AC78-691B4B8A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9B9ED"/>
            </a:solidFill>
            <a:prstDash val="solid"/>
          </a:ln>
        </p:spPr>
      </p:sp>
      <p:sp>
        <p:nvSpPr>
          <p:cNvPr id="3" name="element-3">
            <a:extLst xmlns:a="http://schemas.openxmlformats.org/drawingml/2006/main">
              <a:ext uri="{FF2B5EF4-FFF2-40B4-BE49-F238E27FC236}">
                <a16:creationId xmlns:a16="http://schemas.microsoft.com/office/drawing/2014/main" id="{0ADDFF82-B178-4023-AF4C-37CB0CE9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汇报人：[待填写]</a:t>
            </a:r>
          </a:p>
        </p:txBody>
      </p:sp>
      <p:sp>
        <p:nvSpPr>
          <p:cNvPr id="4" name="element-4">
            <a:extLst xmlns:a="http://schemas.openxmlformats.org/drawingml/2006/main">
              <a:ext uri="{FF2B5EF4-FFF2-40B4-BE49-F238E27FC236}">
                <a16:creationId xmlns:a16="http://schemas.microsoft.com/office/drawing/2014/main" id="{C7F5AF26-EB76-419B-B717-199B8923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  <p:sp>
        <p:nvSpPr>
          <p:cNvPr id="5" name="element-5">
            <a:extLst xmlns:a="http://schemas.openxmlformats.org/drawingml/2006/main">
              <a:ext uri="{FF2B5EF4-FFF2-40B4-BE49-F238E27FC236}">
                <a16:creationId xmlns:a16="http://schemas.microsoft.com/office/drawing/2014/main" id="{920BD79F-DE98-40A3-B076-0CA01C38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764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6" name="element-6">
            <a:extLst xmlns:a="http://schemas.openxmlformats.org/drawingml/2006/main">
              <a:ext uri="{FF2B5EF4-FFF2-40B4-BE49-F238E27FC236}">
                <a16:creationId xmlns:a16="http://schemas.microsoft.com/office/drawing/2014/main" id="{97F79A22-67A2-4EC9-A418-487A4C2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6764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7" name="element-7">
            <a:extLst xmlns:a="http://schemas.openxmlformats.org/drawingml/2006/main">
              <a:ext uri="{FF2B5EF4-FFF2-40B4-BE49-F238E27FC236}">
                <a16:creationId xmlns:a16="http://schemas.microsoft.com/office/drawing/2014/main" id="{3B610D77-D907-40AA-BD2A-9AEFA518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6764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8" name="element-8">
            <a:extLst xmlns:a="http://schemas.openxmlformats.org/drawingml/2006/main">
              <a:ext uri="{FF2B5EF4-FFF2-40B4-BE49-F238E27FC236}">
                <a16:creationId xmlns:a16="http://schemas.microsoft.com/office/drawing/2014/main" id="{C1750BFA-DA01-469B-B653-B975968F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6764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9" name="element-9">
            <a:extLst xmlns:a="http://schemas.openxmlformats.org/drawingml/2006/main">
              <a:ext uri="{FF2B5EF4-FFF2-40B4-BE49-F238E27FC236}">
                <a16:creationId xmlns:a16="http://schemas.microsoft.com/office/drawing/2014/main" id="{20D52FC4-6C13-4E1A-9BCC-F323D516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6764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0" name="element-10">
            <a:extLst xmlns:a="http://schemas.openxmlformats.org/drawingml/2006/main">
              <a:ext uri="{FF2B5EF4-FFF2-40B4-BE49-F238E27FC236}">
                <a16:creationId xmlns:a16="http://schemas.microsoft.com/office/drawing/2014/main" id="{DFAEAAA4-E143-4983-A7D7-1F0900A1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716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1" name="element-11">
            <a:extLst xmlns:a="http://schemas.openxmlformats.org/drawingml/2006/main">
              <a:ext uri="{FF2B5EF4-FFF2-40B4-BE49-F238E27FC236}">
                <a16:creationId xmlns:a16="http://schemas.microsoft.com/office/drawing/2014/main" id="{4AF46469-B117-49D8-92C3-B5010899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145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2" name="element-12">
            <a:extLst xmlns:a="http://schemas.openxmlformats.org/drawingml/2006/main">
              <a:ext uri="{FF2B5EF4-FFF2-40B4-BE49-F238E27FC236}">
                <a16:creationId xmlns:a16="http://schemas.microsoft.com/office/drawing/2014/main" id="{DEA82C44-D275-4353-810B-9EEE5DDF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574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3" name="element-13">
            <a:extLst xmlns:a="http://schemas.openxmlformats.org/drawingml/2006/main">
              <a:ext uri="{FF2B5EF4-FFF2-40B4-BE49-F238E27FC236}">
                <a16:creationId xmlns:a16="http://schemas.microsoft.com/office/drawing/2014/main" id="{1E101474-1B6B-472A-8FCA-A15D104A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003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4" name="element-14">
            <a:extLst xmlns:a="http://schemas.openxmlformats.org/drawingml/2006/main">
              <a:ext uri="{FF2B5EF4-FFF2-40B4-BE49-F238E27FC236}">
                <a16:creationId xmlns:a16="http://schemas.microsoft.com/office/drawing/2014/main" id="{82331A0C-832F-4050-8326-F2EDC108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5" name="element-15">
            <a:extLst xmlns:a="http://schemas.openxmlformats.org/drawingml/2006/main">
              <a:ext uri="{FF2B5EF4-FFF2-40B4-BE49-F238E27FC236}">
                <a16:creationId xmlns:a16="http://schemas.microsoft.com/office/drawing/2014/main" id="{C30FC5C1-BD38-4B42-A184-0790F990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861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6" name="element-16">
            <a:extLst xmlns:a="http://schemas.openxmlformats.org/drawingml/2006/main">
              <a:ext uri="{FF2B5EF4-FFF2-40B4-BE49-F238E27FC236}">
                <a16:creationId xmlns:a16="http://schemas.microsoft.com/office/drawing/2014/main" id="{F6E494EC-C801-4BFA-B36D-C43B507F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290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7" name="element-17">
            <a:extLst xmlns:a="http://schemas.openxmlformats.org/drawingml/2006/main">
              <a:ext uri="{FF2B5EF4-FFF2-40B4-BE49-F238E27FC236}">
                <a16:creationId xmlns:a16="http://schemas.microsoft.com/office/drawing/2014/main" id="{F7C2D080-8F65-4BC4-AB5D-9D4AAE75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719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8" name="element-18">
            <a:extLst xmlns:a="http://schemas.openxmlformats.org/drawingml/2006/main">
              <a:ext uri="{FF2B5EF4-FFF2-40B4-BE49-F238E27FC236}">
                <a16:creationId xmlns:a16="http://schemas.microsoft.com/office/drawing/2014/main" id="{B6B65B7C-0F1F-4D23-B88D-73291166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148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9" name="element-19">
            <a:extLst xmlns:a="http://schemas.openxmlformats.org/drawingml/2006/main">
              <a:ext uri="{FF2B5EF4-FFF2-40B4-BE49-F238E27FC236}">
                <a16:creationId xmlns:a16="http://schemas.microsoft.com/office/drawing/2014/main" id="{55C26710-7761-4CFE-83E2-B8F5CEA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8615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7AA8"/>
            </a:solidFill>
            <a:prstDash val="solid"/>
          </a:ln>
        </p:spPr>
      </p:sp>
      <p:sp>
        <p:nvSpPr>
          <p:cNvPr id="20" name="element-20">
            <a:extLst xmlns:a="http://schemas.openxmlformats.org/drawingml/2006/main">
              <a:ext uri="{FF2B5EF4-FFF2-40B4-BE49-F238E27FC236}">
                <a16:creationId xmlns:a16="http://schemas.microsoft.com/office/drawing/2014/main" id="{819BD6E5-85E9-4098-9DC7-3998560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4384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lement-21">
            <a:extLst xmlns:a="http://schemas.openxmlformats.org/drawingml/2006/main">
              <a:ext uri="{FF2B5EF4-FFF2-40B4-BE49-F238E27FC236}">
                <a16:creationId xmlns:a16="http://schemas.microsoft.com/office/drawing/2014/main" id="{4B9AB161-995F-4100-96E2-320817AF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学习计划与阶段进度</a:t>
            </a:r>
          </a:p>
        </p:txBody>
      </p:sp>
      <p:sp>
        <p:nvSpPr>
          <p:cNvPr id="2" name="element-22">
            <a:extLst xmlns:a="http://schemas.openxmlformats.org/drawingml/2006/main">
              <a:ext uri="{FF2B5EF4-FFF2-40B4-BE49-F238E27FC236}">
                <a16:creationId xmlns:a16="http://schemas.microsoft.com/office/drawing/2014/main" id="{D1BFDD45-3839-415D-9990-E611AC45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" name="element-23">
            <a:extLst xmlns:a="http://schemas.openxmlformats.org/drawingml/2006/main">
              <a:ext uri="{FF2B5EF4-FFF2-40B4-BE49-F238E27FC236}">
                <a16:creationId xmlns:a16="http://schemas.microsoft.com/office/drawing/2014/main" id="{5F21E191-26F8-42C8-A861-57CA6B56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element-24">
            <a:extLst xmlns:a="http://schemas.openxmlformats.org/drawingml/2006/main">
              <a:ext uri="{FF2B5EF4-FFF2-40B4-BE49-F238E27FC236}">
                <a16:creationId xmlns:a16="http://schemas.microsoft.com/office/drawing/2014/main" id="{2E600125-44AE-4D5C-8535-D762FDC9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24000"/>
            <a:ext cx="0" cy="441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5" name="element-25">
            <a:extLst xmlns:a="http://schemas.openxmlformats.org/drawingml/2006/main">
              <a:ext uri="{FF2B5EF4-FFF2-40B4-BE49-F238E27FC236}">
                <a16:creationId xmlns:a16="http://schemas.microsoft.com/office/drawing/2014/main" id="{7057EC31-6BB8-4581-80DB-72B65EAB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8 周</a:t>
            </a:r>
          </a:p>
        </p:txBody>
      </p:sp>
      <p:sp>
        <p:nvSpPr>
          <p:cNvPr id="6" name="element-26">
            <a:extLst xmlns:a="http://schemas.openxmlformats.org/drawingml/2006/main">
              <a:ext uri="{FF2B5EF4-FFF2-40B4-BE49-F238E27FC236}">
                <a16:creationId xmlns:a16="http://schemas.microsoft.com/office/drawing/2014/main" id="{18F66A1C-9729-47D7-A35F-1A0C0292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总体学习周期</a:t>
            </a:r>
          </a:p>
        </p:txBody>
      </p:sp>
      <p:sp>
        <p:nvSpPr>
          <p:cNvPr id="7" name="element-27">
            <a:extLst xmlns:a="http://schemas.openxmlformats.org/drawingml/2006/main">
              <a:ext uri="{FF2B5EF4-FFF2-40B4-BE49-F238E27FC236}">
                <a16:creationId xmlns:a16="http://schemas.microsoft.com/office/drawing/2014/main" id="{42CBF52E-7225-41DB-83AA-5FFB9C3B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15 章</a:t>
            </a:r>
          </a:p>
        </p:txBody>
      </p:sp>
      <p:sp>
        <p:nvSpPr>
          <p:cNvPr id="8" name="element-28">
            <a:extLst xmlns:a="http://schemas.openxmlformats.org/drawingml/2006/main">
              <a:ext uri="{FF2B5EF4-FFF2-40B4-BE49-F238E27FC236}">
                <a16:creationId xmlns:a16="http://schemas.microsoft.com/office/drawing/2014/main" id="{D8762089-2C1E-4A83-9A74-9F2EEAF2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课程模块</a:t>
            </a:r>
          </a:p>
        </p:txBody>
      </p:sp>
      <p:sp>
        <p:nvSpPr>
          <p:cNvPr id="9" name="element-29">
            <a:extLst xmlns:a="http://schemas.openxmlformats.org/drawingml/2006/main">
              <a:ext uri="{FF2B5EF4-FFF2-40B4-BE49-F238E27FC236}">
                <a16:creationId xmlns:a16="http://schemas.microsoft.com/office/drawing/2014/main" id="{161FBC90-4CAA-47D7-B2F8-56547FB2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第 6 章 MRP</a:t>
            </a:r>
          </a:p>
        </p:txBody>
      </p:sp>
      <p:sp>
        <p:nvSpPr>
          <p:cNvPr id="10" name="element-30">
            <a:extLst xmlns:a="http://schemas.openxmlformats.org/drawingml/2006/main">
              <a:ext uri="{FF2B5EF4-FFF2-40B4-BE49-F238E27FC236}">
                <a16:creationId xmlns:a16="http://schemas.microsoft.com/office/drawing/2014/main" id="{4CF7621C-1A12-4D68-BDD8-FF30869F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当前学习位置</a:t>
            </a:r>
          </a:p>
          <a:p xmlns:a="http://schemas.openxmlformats.org/drawingml/2006/main">
            <a: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框架已讲解，综合练习待完成</a:t>
            </a:r>
          </a:p>
        </p:txBody>
      </p:sp>
      <p:sp>
        <p:nvSpPr>
          <p:cNvPr id="11" name="element-31">
            <a:extLst xmlns:a="http://schemas.openxmlformats.org/drawingml/2006/main">
              <a:ext uri="{FF2B5EF4-FFF2-40B4-BE49-F238E27FC236}">
                <a16:creationId xmlns:a16="http://schemas.microsoft.com/office/drawing/2014/main" id="{33676BAF-1BB8-4FD4-AEEA-0B26607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57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章节覆盖</a:t>
            </a:r>
          </a:p>
        </p:txBody>
      </p:sp>
      <p:sp>
        <p:nvSpPr>
          <p:cNvPr id="12" name="element-32">
            <a:extLst xmlns:a="http://schemas.openxmlformats.org/drawingml/2006/main">
              <a:ext uri="{FF2B5EF4-FFF2-40B4-BE49-F238E27FC236}">
                <a16:creationId xmlns:a16="http://schemas.microsoft.com/office/drawing/2014/main" id="{2762233D-59FA-4A0E-880C-0A16DD6D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400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6 / 15 章</a:t>
            </a:r>
          </a:p>
        </p:txBody>
      </p:sp>
      <p:sp>
        <p:nvSpPr>
          <p:cNvPr id="13" name="element-33">
            <a:extLst xmlns:a="http://schemas.openxmlformats.org/drawingml/2006/main">
              <a:ext uri="{FF2B5EF4-FFF2-40B4-BE49-F238E27FC236}">
                <a16:creationId xmlns:a16="http://schemas.microsoft.com/office/drawing/2014/main" id="{6586684B-8496-4B51-AFA8-3F183BB3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9775"/>
            <a:ext cx="7734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lement-34">
            <a:extLst xmlns:a="http://schemas.openxmlformats.org/drawingml/2006/main">
              <a:ext uri="{FF2B5EF4-FFF2-40B4-BE49-F238E27FC236}">
                <a16:creationId xmlns:a16="http://schemas.microsoft.com/office/drawing/2014/main" id="{7BA9B7F4-BEF5-47BD-AE3A-A2BE7563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9775"/>
            <a:ext cx="309372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lement-35">
            <a:extLst xmlns:a="http://schemas.openxmlformats.org/drawingml/2006/main">
              <a:ext uri="{FF2B5EF4-FFF2-40B4-BE49-F238E27FC236}">
                <a16:creationId xmlns:a16="http://schemas.microsoft.com/office/drawing/2014/main" id="{C1C0421B-BAC9-4401-8E23-C3E9799A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47900"/>
            <a:ext cx="773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40% 为章节覆盖率，不代表知识掌握度</a:t>
            </a:r>
          </a:p>
        </p:txBody>
      </p:sp>
      <p:sp>
        <p:nvSpPr>
          <p:cNvPr id="16" name="element-36">
            <a:extLst xmlns:a="http://schemas.openxmlformats.org/drawingml/2006/main">
              <a:ext uri="{FF2B5EF4-FFF2-40B4-BE49-F238E27FC236}">
                <a16:creationId xmlns:a16="http://schemas.microsoft.com/office/drawing/2014/main" id="{49CAEF83-3B52-4A96-AA4B-C30A06C0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76575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E7"/>
            </a:solidFill>
            <a:prstDash val="solid"/>
          </a:ln>
        </p:spPr>
      </p:sp>
      <p:sp>
        <p:nvSpPr>
          <p:cNvPr id="17" name="element-37">
            <a:extLst xmlns:a="http://schemas.openxmlformats.org/drawingml/2006/main">
              <a:ext uri="{FF2B5EF4-FFF2-40B4-BE49-F238E27FC236}">
                <a16:creationId xmlns:a16="http://schemas.microsoft.com/office/drawing/2014/main" id="{9BABC09A-B4E6-4D1A-B566-8610187F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lement-38">
            <a:extLst xmlns:a="http://schemas.openxmlformats.org/drawingml/2006/main">
              <a:ext uri="{FF2B5EF4-FFF2-40B4-BE49-F238E27FC236}">
                <a16:creationId xmlns:a16="http://schemas.microsoft.com/office/drawing/2014/main" id="{490724D6-C598-4F02-A2F4-E3ECF9C1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01–06</a:t>
            </a:r>
          </a:p>
        </p:txBody>
      </p:sp>
      <p:sp>
        <p:nvSpPr>
          <p:cNvPr id="19" name="element-39">
            <a:extLst xmlns:a="http://schemas.openxmlformats.org/drawingml/2006/main">
              <a:ext uri="{FF2B5EF4-FFF2-40B4-BE49-F238E27FC236}">
                <a16:creationId xmlns:a16="http://schemas.microsoft.com/office/drawing/2014/main" id="{E9188BAD-AD5A-4141-BC93-9E5E2E54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基础认知与计划管理</a:t>
            </a:r>
          </a:p>
        </p:txBody>
      </p:sp>
      <p:sp>
        <p:nvSpPr>
          <p:cNvPr id="20" name="element-40">
            <a:extLst xmlns:a="http://schemas.openxmlformats.org/drawingml/2006/main">
              <a:ext uri="{FF2B5EF4-FFF2-40B4-BE49-F238E27FC236}">
                <a16:creationId xmlns:a16="http://schemas.microsoft.com/office/drawing/2014/main" id="{13BBA2E3-0C94-49CD-98DC-99470BCE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615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供应链基础、制造基础数据、需求管理</a:t>
            </a:r>
          </a:p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S&amp;OP、MPS、MRP</a:t>
            </a:r>
          </a:p>
        </p:txBody>
      </p:sp>
      <p:sp>
        <p:nvSpPr>
          <p:cNvPr id="21" name="element-41">
            <a:extLst xmlns:a="http://schemas.openxmlformats.org/drawingml/2006/main">
              <a:ext uri="{FF2B5EF4-FFF2-40B4-BE49-F238E27FC236}">
                <a16:creationId xmlns:a16="http://schemas.microsoft.com/office/drawing/2014/main" id="{389DA60C-D119-4227-ADD2-61C289D5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9B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lement-42">
            <a:extLst xmlns:a="http://schemas.openxmlformats.org/drawingml/2006/main">
              <a:ext uri="{FF2B5EF4-FFF2-40B4-BE49-F238E27FC236}">
                <a16:creationId xmlns:a16="http://schemas.microsoft.com/office/drawing/2014/main" id="{8107C1F7-4F62-4F2E-8325-501D3A48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07–12</a:t>
            </a:r>
          </a:p>
        </p:txBody>
      </p:sp>
      <p:sp>
        <p:nvSpPr>
          <p:cNvPr id="23" name="element-43">
            <a:extLst xmlns:a="http://schemas.openxmlformats.org/drawingml/2006/main">
              <a:ext uri="{FF2B5EF4-FFF2-40B4-BE49-F238E27FC236}">
                <a16:creationId xmlns:a16="http://schemas.microsoft.com/office/drawing/2014/main" id="{5892967E-7F6D-4799-AE38-7E5DCB36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1955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执行与资源管理</a:t>
            </a:r>
          </a:p>
        </p:txBody>
      </p:sp>
      <p:sp>
        <p:nvSpPr>
          <p:cNvPr id="24" name="element-44">
            <a:extLst xmlns:a="http://schemas.openxmlformats.org/drawingml/2006/main">
              <a:ext uri="{FF2B5EF4-FFF2-40B4-BE49-F238E27FC236}">
                <a16:creationId xmlns:a16="http://schemas.microsoft.com/office/drawing/2014/main" id="{E3001DCE-3AE9-42FE-ADF2-797692C5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57700"/>
            <a:ext cx="615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产能、库存、采购、物料控制</a:t>
            </a:r>
          </a:p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生产控制、排程</a:t>
            </a:r>
          </a:p>
        </p:txBody>
      </p:sp>
      <p:sp>
        <p:nvSpPr>
          <p:cNvPr id="25" name="element-45">
            <a:extLst xmlns:a="http://schemas.openxmlformats.org/drawingml/2006/main">
              <a:ext uri="{FF2B5EF4-FFF2-40B4-BE49-F238E27FC236}">
                <a16:creationId xmlns:a16="http://schemas.microsoft.com/office/drawing/2014/main" id="{F1E15597-7B7F-4FA6-85D8-51248F96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9B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element-46">
            <a:extLst xmlns:a="http://schemas.openxmlformats.org/drawingml/2006/main">
              <a:ext uri="{FF2B5EF4-FFF2-40B4-BE49-F238E27FC236}">
                <a16:creationId xmlns:a16="http://schemas.microsoft.com/office/drawing/2014/main" id="{291ABEA4-BCF2-46B3-B5CC-0EEB57A1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13–15</a:t>
            </a:r>
          </a:p>
        </p:txBody>
      </p:sp>
      <p:sp>
        <p:nvSpPr>
          <p:cNvPr id="27" name="element-47">
            <a:extLst xmlns:a="http://schemas.openxmlformats.org/drawingml/2006/main">
              <a:ext uri="{FF2B5EF4-FFF2-40B4-BE49-F238E27FC236}">
                <a16:creationId xmlns:a16="http://schemas.microsoft.com/office/drawing/2014/main" id="{3CB966B2-BEEA-475D-A26E-B6003716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6255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综合应用</a:t>
            </a:r>
          </a:p>
        </p:txBody>
      </p:sp>
      <p:sp>
        <p:nvSpPr>
          <p:cNvPr id="28" name="element-48">
            <a:extLst xmlns:a="http://schemas.openxmlformats.org/drawingml/2006/main">
              <a:ext uri="{FF2B5EF4-FFF2-40B4-BE49-F238E27FC236}">
                <a16:creationId xmlns:a16="http://schemas.microsoft.com/office/drawing/2014/main" id="{3D5086C5-169F-432D-B712-F3E2164D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00700"/>
            <a:ext cx="615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精益生产、供应链系统、数据分析及综合项目</a:t>
            </a:r>
          </a:p>
        </p:txBody>
      </p:sp>
    </p:spTree>
    <p:extLst>
      <p:ext uri="{BB962C8B-B14F-4D97-AF65-F5344CB8AC3E}">
        <p14:creationId xmlns:p14="http://schemas.microsoft.com/office/powerpoint/2010/main" val="323004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lement-49">
            <a:extLst xmlns:a="http://schemas.openxmlformats.org/drawingml/2006/main">
              <a:ext uri="{FF2B5EF4-FFF2-40B4-BE49-F238E27FC236}">
                <a16:creationId xmlns:a16="http://schemas.microsoft.com/office/drawing/2014/main" id="{558EBD90-AFF8-41B6-930F-E8934C69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已学知识体系与核心收获</a:t>
            </a:r>
          </a:p>
        </p:txBody>
      </p:sp>
      <p:sp>
        <p:nvSpPr>
          <p:cNvPr id="2" name="element-50">
            <a:extLst xmlns:a="http://schemas.openxmlformats.org/drawingml/2006/main">
              <a:ext uri="{FF2B5EF4-FFF2-40B4-BE49-F238E27FC236}">
                <a16:creationId xmlns:a16="http://schemas.microsoft.com/office/drawing/2014/main" id="{6D5AE1CE-0A62-444A-B97E-FC96AE21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" name="element-51">
            <a:extLst xmlns:a="http://schemas.openxmlformats.org/drawingml/2006/main">
              <a:ext uri="{FF2B5EF4-FFF2-40B4-BE49-F238E27FC236}">
                <a16:creationId xmlns:a16="http://schemas.microsoft.com/office/drawing/2014/main" id="{E2A91FE7-6B18-47BF-9508-A37ED69A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element-52">
            <a:extLst xmlns:a="http://schemas.openxmlformats.org/drawingml/2006/main">
              <a:ext uri="{FF2B5EF4-FFF2-40B4-BE49-F238E27FC236}">
                <a16:creationId xmlns:a16="http://schemas.microsoft.com/office/drawing/2014/main" id="{A565F224-8E53-469D-8A85-BAEDE092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47800"/>
            <a:ext cx="0" cy="468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5" name="element-53">
            <a:extLst xmlns:a="http://schemas.openxmlformats.org/drawingml/2006/main">
              <a:ext uri="{FF2B5EF4-FFF2-40B4-BE49-F238E27FC236}">
                <a16:creationId xmlns:a16="http://schemas.microsoft.com/office/drawing/2014/main" id="{24DE6E05-778C-46DF-8DB4-1897EB5A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基础认知（01–02）</a:t>
            </a:r>
          </a:p>
        </p:txBody>
      </p:sp>
      <p:sp>
        <p:nvSpPr>
          <p:cNvPr id="6" name="element-54">
            <a:extLst xmlns:a="http://schemas.openxmlformats.org/drawingml/2006/main">
              <a:ext uri="{FF2B5EF4-FFF2-40B4-BE49-F238E27FC236}">
                <a16:creationId xmlns:a16="http://schemas.microsoft.com/office/drawing/2014/main" id="{DCC606F1-03D5-4651-9B12-ABD7D20D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供应链流程、PMC 职责、制造基础数据</a:t>
            </a:r>
          </a:p>
        </p:txBody>
      </p:sp>
      <p:sp>
        <p:nvSpPr>
          <p:cNvPr id="7" name="element-55">
            <a:extLst xmlns:a="http://schemas.openxmlformats.org/drawingml/2006/main">
              <a:ext uri="{FF2B5EF4-FFF2-40B4-BE49-F238E27FC236}">
                <a16:creationId xmlns:a16="http://schemas.microsoft.com/office/drawing/2014/main" id="{E497C053-CE4C-464F-A2DE-AEB76147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9532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56">
            <a:extLst xmlns:a="http://schemas.openxmlformats.org/drawingml/2006/main">
              <a:ext uri="{FF2B5EF4-FFF2-40B4-BE49-F238E27FC236}">
                <a16:creationId xmlns:a16="http://schemas.microsoft.com/office/drawing/2014/main" id="{BA596150-5DE5-4DDD-AD71-5AF55FAB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649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客户预测 / 正式订单</a:t>
            </a:r>
          </a:p>
        </p:txBody>
      </p:sp>
      <p:sp>
        <p:nvSpPr>
          <p:cNvPr id="9" name="element-57">
            <a:extLst xmlns:a="http://schemas.openxmlformats.org/drawingml/2006/main">
              <a:ext uri="{FF2B5EF4-FFF2-40B4-BE49-F238E27FC236}">
                <a16:creationId xmlns:a16="http://schemas.microsoft.com/office/drawing/2014/main" id="{268EF82E-7A02-428B-B9D9-619A8981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649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需求管理：区分预测需求和确定性需求</a:t>
            </a:r>
          </a:p>
        </p:txBody>
      </p:sp>
      <p:sp>
        <p:nvSpPr>
          <p:cNvPr id="10" name="element-58">
            <a:extLst xmlns:a="http://schemas.openxmlformats.org/drawingml/2006/main">
              <a:ext uri="{FF2B5EF4-FFF2-40B4-BE49-F238E27FC236}">
                <a16:creationId xmlns:a16="http://schemas.microsoft.com/office/drawing/2014/main" id="{A2827C92-0CB4-4D07-A98E-89D38B7E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705100"/>
            <a:ext cx="114300" cy="85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lement-59">
            <a:extLst xmlns:a="http://schemas.openxmlformats.org/drawingml/2006/main">
              <a:ext uri="{FF2B5EF4-FFF2-40B4-BE49-F238E27FC236}">
                <a16:creationId xmlns:a16="http://schemas.microsoft.com/office/drawing/2014/main" id="{AFACF754-915D-4372-B184-0676E0BD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69532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lement-60">
            <a:extLst xmlns:a="http://schemas.openxmlformats.org/drawingml/2006/main">
              <a:ext uri="{FF2B5EF4-FFF2-40B4-BE49-F238E27FC236}">
                <a16:creationId xmlns:a16="http://schemas.microsoft.com/office/drawing/2014/main" id="{A3091900-8F9B-4EDE-BC87-6C5F746D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649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S&amp;OP  销售与运营计划</a:t>
            </a:r>
          </a:p>
        </p:txBody>
      </p:sp>
      <p:sp>
        <p:nvSpPr>
          <p:cNvPr id="13" name="element-61">
            <a:extLst xmlns:a="http://schemas.openxmlformats.org/drawingml/2006/main">
              <a:ext uri="{FF2B5EF4-FFF2-40B4-BE49-F238E27FC236}">
                <a16:creationId xmlns:a16="http://schemas.microsoft.com/office/drawing/2014/main" id="{CD843B3C-2972-471B-A3E8-EDCF03C6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649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协调需求、供应、库存与产能</a:t>
            </a:r>
          </a:p>
        </p:txBody>
      </p:sp>
      <p:sp>
        <p:nvSpPr>
          <p:cNvPr id="14" name="element-62">
            <a:extLst xmlns:a="http://schemas.openxmlformats.org/drawingml/2006/main">
              <a:ext uri="{FF2B5EF4-FFF2-40B4-BE49-F238E27FC236}">
                <a16:creationId xmlns:a16="http://schemas.microsoft.com/office/drawing/2014/main" id="{909BA469-1E82-4D92-806E-AEE8FB3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62350"/>
            <a:ext cx="114300" cy="85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lement-63">
            <a:extLst xmlns:a="http://schemas.openxmlformats.org/drawingml/2006/main">
              <a:ext uri="{FF2B5EF4-FFF2-40B4-BE49-F238E27FC236}">
                <a16:creationId xmlns:a16="http://schemas.microsoft.com/office/drawing/2014/main" id="{5B7EB6DC-3A69-43CF-82BB-02E9C9BC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69532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lement-64">
            <a:extLst xmlns:a="http://schemas.openxmlformats.org/drawingml/2006/main">
              <a:ext uri="{FF2B5EF4-FFF2-40B4-BE49-F238E27FC236}">
                <a16:creationId xmlns:a16="http://schemas.microsoft.com/office/drawing/2014/main" id="{AB3C4B29-9097-434F-97D9-79E5B5CF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649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MPS  主生产计划</a:t>
            </a:r>
          </a:p>
        </p:txBody>
      </p:sp>
      <p:sp>
        <p:nvSpPr>
          <p:cNvPr id="17" name="element-65">
            <a:extLst xmlns:a="http://schemas.openxmlformats.org/drawingml/2006/main">
              <a:ext uri="{FF2B5EF4-FFF2-40B4-BE49-F238E27FC236}">
                <a16:creationId xmlns:a16="http://schemas.microsoft.com/office/drawing/2014/main" id="{D46B1E33-ED04-4A0D-B1E9-658D4BA9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649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确定成品生产数量和时间</a:t>
            </a:r>
          </a:p>
        </p:txBody>
      </p:sp>
      <p:sp>
        <p:nvSpPr>
          <p:cNvPr id="18" name="element-66">
            <a:extLst xmlns:a="http://schemas.openxmlformats.org/drawingml/2006/main">
              <a:ext uri="{FF2B5EF4-FFF2-40B4-BE49-F238E27FC236}">
                <a16:creationId xmlns:a16="http://schemas.microsoft.com/office/drawing/2014/main" id="{A3443D51-9B66-48F1-BAA5-D577159C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19600"/>
            <a:ext cx="114300" cy="85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lement-67">
            <a:extLst xmlns:a="http://schemas.openxmlformats.org/drawingml/2006/main">
              <a:ext uri="{FF2B5EF4-FFF2-40B4-BE49-F238E27FC236}">
                <a16:creationId xmlns:a16="http://schemas.microsoft.com/office/drawing/2014/main" id="{D77744EC-5CA4-4A7A-B41B-D14BF7B6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9532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lement-68">
            <a:extLst xmlns:a="http://schemas.openxmlformats.org/drawingml/2006/main">
              <a:ext uri="{FF2B5EF4-FFF2-40B4-BE49-F238E27FC236}">
                <a16:creationId xmlns:a16="http://schemas.microsoft.com/office/drawing/2014/main" id="{9C0FAC1A-7571-421C-B90A-013B7260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649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MRP  物料需求计划</a:t>
            </a:r>
          </a:p>
        </p:txBody>
      </p:sp>
      <p:sp>
        <p:nvSpPr>
          <p:cNvPr id="21" name="element-69">
            <a:extLst xmlns:a="http://schemas.openxmlformats.org/drawingml/2006/main">
              <a:ext uri="{FF2B5EF4-FFF2-40B4-BE49-F238E27FC236}">
                <a16:creationId xmlns:a16="http://schemas.microsoft.com/office/drawing/2014/main" id="{E9EA3C48-012E-4588-BAEC-3B7F2BF6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49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结合 BOM、库存、在途与提前期形成物料需求</a:t>
            </a:r>
          </a:p>
        </p:txBody>
      </p:sp>
      <p:sp>
        <p:nvSpPr>
          <p:cNvPr id="22" name="element-70">
            <a:extLst xmlns:a="http://schemas.openxmlformats.org/drawingml/2006/main">
              <a:ext uri="{FF2B5EF4-FFF2-40B4-BE49-F238E27FC236}">
                <a16:creationId xmlns:a16="http://schemas.microsoft.com/office/drawing/2014/main" id="{79790E3E-1D4D-4A3B-A64B-AD379B5D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后续业务</a:t>
            </a:r>
          </a:p>
        </p:txBody>
      </p:sp>
      <p:sp>
        <p:nvSpPr>
          <p:cNvPr id="23" name="element-71">
            <a:extLst xmlns:a="http://schemas.openxmlformats.org/drawingml/2006/main">
              <a:ext uri="{FF2B5EF4-FFF2-40B4-BE49-F238E27FC236}">
                <a16:creationId xmlns:a16="http://schemas.microsoft.com/office/drawing/2014/main" id="{AE2979A9-CEE9-422D-A427-2DFDF97A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257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24" name="element-72">
            <a:extLst xmlns:a="http://schemas.openxmlformats.org/drawingml/2006/main">
              <a:ext uri="{FF2B5EF4-FFF2-40B4-BE49-F238E27FC236}">
                <a16:creationId xmlns:a16="http://schemas.microsoft.com/office/drawing/2014/main" id="{D7A1AE0D-B3AE-4EEC-A059-BA72BACC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7150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25" name="element-73">
            <a:extLst xmlns:a="http://schemas.openxmlformats.org/drawingml/2006/main">
              <a:ext uri="{FF2B5EF4-FFF2-40B4-BE49-F238E27FC236}">
                <a16:creationId xmlns:a16="http://schemas.microsoft.com/office/drawing/2014/main" id="{2B595524-D1C2-475F-A97A-043C23D8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6388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26" name="element-74">
            <a:extLst xmlns:a="http://schemas.openxmlformats.org/drawingml/2006/main">
              <a:ext uri="{FF2B5EF4-FFF2-40B4-BE49-F238E27FC236}">
                <a16:creationId xmlns:a16="http://schemas.microsoft.com/office/drawing/2014/main" id="{7714D3B3-D895-4CBA-9BBF-36B6433E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71500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27" name="element-75">
            <a:extLst xmlns:a="http://schemas.openxmlformats.org/drawingml/2006/main">
              <a:ext uri="{FF2B5EF4-FFF2-40B4-BE49-F238E27FC236}">
                <a16:creationId xmlns:a16="http://schemas.microsoft.com/office/drawing/2014/main" id="{66994E8E-78E0-4D0C-A72B-909E20FA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2266950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lement-76">
            <a:extLst xmlns:a="http://schemas.openxmlformats.org/drawingml/2006/main">
              <a:ext uri="{FF2B5EF4-FFF2-40B4-BE49-F238E27FC236}">
                <a16:creationId xmlns:a16="http://schemas.microsoft.com/office/drawing/2014/main" id="{BD732344-2CE2-4EAF-BEC5-6C4DB543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采购计划</a:t>
            </a:r>
          </a:p>
        </p:txBody>
      </p:sp>
      <p:sp>
        <p:nvSpPr>
          <p:cNvPr id="29" name="element-77">
            <a:extLst xmlns:a="http://schemas.openxmlformats.org/drawingml/2006/main">
              <a:ext uri="{FF2B5EF4-FFF2-40B4-BE49-F238E27FC236}">
                <a16:creationId xmlns:a16="http://schemas.microsoft.com/office/drawing/2014/main" id="{48D7DD50-B2CC-4F9F-864B-6F4E70B9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71500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30" name="element-78">
            <a:extLst xmlns:a="http://schemas.openxmlformats.org/drawingml/2006/main">
              <a:ext uri="{FF2B5EF4-FFF2-40B4-BE49-F238E27FC236}">
                <a16:creationId xmlns:a16="http://schemas.microsoft.com/office/drawing/2014/main" id="{475B6DDF-7FD6-4D1E-8504-4CB27BB9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19775"/>
            <a:ext cx="2266950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lement-79">
            <a:extLst xmlns:a="http://schemas.openxmlformats.org/drawingml/2006/main">
              <a:ext uri="{FF2B5EF4-FFF2-40B4-BE49-F238E27FC236}">
                <a16:creationId xmlns:a16="http://schemas.microsoft.com/office/drawing/2014/main" id="{83C526D7-1B59-464B-8758-36601E5D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8578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生产执行</a:t>
            </a:r>
          </a:p>
        </p:txBody>
      </p:sp>
      <p:sp>
        <p:nvSpPr>
          <p:cNvPr id="32" name="element-80">
            <a:extLst xmlns:a="http://schemas.openxmlformats.org/drawingml/2006/main">
              <a:ext uri="{FF2B5EF4-FFF2-40B4-BE49-F238E27FC236}">
                <a16:creationId xmlns:a16="http://schemas.microsoft.com/office/drawing/2014/main" id="{FF02F96B-D2CE-4035-8DB3-7C74136C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1500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33" name="element-81">
            <a:extLst xmlns:a="http://schemas.openxmlformats.org/drawingml/2006/main">
              <a:ext uri="{FF2B5EF4-FFF2-40B4-BE49-F238E27FC236}">
                <a16:creationId xmlns:a16="http://schemas.microsoft.com/office/drawing/2014/main" id="{F5669359-54FF-4A2D-84C4-3C281E2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819775"/>
            <a:ext cx="2266950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element-82">
            <a:extLst xmlns:a="http://schemas.openxmlformats.org/drawingml/2006/main">
              <a:ext uri="{FF2B5EF4-FFF2-40B4-BE49-F238E27FC236}">
                <a16:creationId xmlns:a16="http://schemas.microsoft.com/office/drawing/2014/main" id="{CA90FF30-EFEE-4730-968B-792666AA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8578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物料控制</a:t>
            </a:r>
          </a:p>
        </p:txBody>
      </p:sp>
      <p:sp>
        <p:nvSpPr>
          <p:cNvPr id="35" name="element-83">
            <a:extLst xmlns:a="http://schemas.openxmlformats.org/drawingml/2006/main">
              <a:ext uri="{FF2B5EF4-FFF2-40B4-BE49-F238E27FC236}">
                <a16:creationId xmlns:a16="http://schemas.microsoft.com/office/drawing/2014/main" id="{D5CBAB82-E8BA-48C1-968E-EE30B0E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71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核心收获</a:t>
            </a:r>
          </a:p>
        </p:txBody>
      </p:sp>
      <p:sp>
        <p:nvSpPr>
          <p:cNvPr id="36" name="element-84">
            <a:extLst xmlns:a="http://schemas.openxmlformats.org/drawingml/2006/main">
              <a:ext uri="{FF2B5EF4-FFF2-40B4-BE49-F238E27FC236}">
                <a16:creationId xmlns:a16="http://schemas.microsoft.com/office/drawing/2014/main" id="{7050B1C2-F979-4BE3-8B81-2825510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业务认知</a:t>
            </a:r>
          </a:p>
        </p:txBody>
      </p:sp>
      <p:sp>
        <p:nvSpPr>
          <p:cNvPr id="37" name="element-85">
            <a:extLst xmlns:a="http://schemas.openxmlformats.org/drawingml/2006/main">
              <a:ext uri="{FF2B5EF4-FFF2-40B4-BE49-F238E27FC236}">
                <a16:creationId xmlns:a16="http://schemas.microsoft.com/office/drawing/2014/main" id="{EB8AC296-6B3B-43A1-9C53-85421A2F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24125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PMC 需要协同管理需求、计划、</a:t>
            </a:r>
          </a:p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物料和资源。</a:t>
            </a:r>
          </a:p>
        </p:txBody>
      </p:sp>
      <p:sp>
        <p:nvSpPr>
          <p:cNvPr id="38" name="element-86">
            <a:extLst xmlns:a="http://schemas.openxmlformats.org/drawingml/2006/main">
              <a:ext uri="{FF2B5EF4-FFF2-40B4-BE49-F238E27FC236}">
                <a16:creationId xmlns:a16="http://schemas.microsoft.com/office/drawing/2014/main" id="{B35F0F9E-F9DB-45EA-8D8C-38737302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数据认知</a:t>
            </a:r>
          </a:p>
        </p:txBody>
      </p:sp>
      <p:sp>
        <p:nvSpPr>
          <p:cNvPr id="39" name="element-87">
            <a:extLst xmlns:a="http://schemas.openxmlformats.org/drawingml/2006/main">
              <a:ext uri="{FF2B5EF4-FFF2-40B4-BE49-F238E27FC236}">
                <a16:creationId xmlns:a16="http://schemas.microsoft.com/office/drawing/2014/main" id="{C52B2D26-2C67-4B48-948A-5ABC6858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00475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BOM、库存、提前期等基础数据，</a:t>
            </a:r>
          </a:p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直接影响计划运算结果。</a:t>
            </a:r>
          </a:p>
        </p:txBody>
      </p:sp>
      <p:sp>
        <p:nvSpPr>
          <p:cNvPr id="40" name="element-88">
            <a:extLst xmlns:a="http://schemas.openxmlformats.org/drawingml/2006/main">
              <a:ext uri="{FF2B5EF4-FFF2-40B4-BE49-F238E27FC236}">
                <a16:creationId xmlns:a16="http://schemas.microsoft.com/office/drawing/2014/main" id="{2CD05295-E24C-433F-8B21-0602498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管理逻辑</a:t>
            </a:r>
          </a:p>
        </p:txBody>
      </p:sp>
      <p:sp>
        <p:nvSpPr>
          <p:cNvPr id="41" name="element-89">
            <a:extLst xmlns:a="http://schemas.openxmlformats.org/drawingml/2006/main">
              <a:ext uri="{FF2B5EF4-FFF2-40B4-BE49-F238E27FC236}">
                <a16:creationId xmlns:a16="http://schemas.microsoft.com/office/drawing/2014/main" id="{1ADA4AEE-B8D2-4201-BCEF-2642CB80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76825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制定计划需要兼顾需求满足、</a:t>
            </a:r>
          </a:p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交付风险与资源约束。</a:t>
            </a:r>
          </a:p>
        </p:txBody>
      </p:sp>
    </p:spTree>
    <p:extLst>
      <p:ext uri="{BB962C8B-B14F-4D97-AF65-F5344CB8AC3E}">
        <p14:creationId xmlns:p14="http://schemas.microsoft.com/office/powerpoint/2010/main" val="18974187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lement-90">
            <a:extLst xmlns:a="http://schemas.openxmlformats.org/drawingml/2006/main">
              <a:ext uri="{FF2B5EF4-FFF2-40B4-BE49-F238E27FC236}">
                <a16:creationId xmlns:a16="http://schemas.microsoft.com/office/drawing/2014/main" id="{B5F806BE-1FAF-472E-ABD1-6486122A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AI 工具学习与业务应用探索</a:t>
            </a:r>
          </a:p>
        </p:txBody>
      </p:sp>
      <p:sp>
        <p:nvSpPr>
          <p:cNvPr id="2" name="element-91">
            <a:extLst xmlns:a="http://schemas.openxmlformats.org/drawingml/2006/main">
              <a:ext uri="{FF2B5EF4-FFF2-40B4-BE49-F238E27FC236}">
                <a16:creationId xmlns:a16="http://schemas.microsoft.com/office/drawing/2014/main" id="{4A576AD1-5752-4E21-9003-DEC0915F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" name="element-92">
            <a:extLst xmlns:a="http://schemas.openxmlformats.org/drawingml/2006/main">
              <a:ext uri="{FF2B5EF4-FFF2-40B4-BE49-F238E27FC236}">
                <a16:creationId xmlns:a16="http://schemas.microsoft.com/office/drawing/2014/main" id="{E10D601C-9E42-479B-A302-A40C3D23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element-93">
            <a:extLst xmlns:a="http://schemas.openxmlformats.org/drawingml/2006/main">
              <a:ext uri="{FF2B5EF4-FFF2-40B4-BE49-F238E27FC236}">
                <a16:creationId xmlns:a16="http://schemas.microsoft.com/office/drawing/2014/main" id="{1F83B1A4-75D2-4E57-A2FD-2D958F3A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工具学习方向</a:t>
            </a:r>
          </a:p>
        </p:txBody>
      </p:sp>
      <p:sp>
        <p:nvSpPr>
          <p:cNvPr id="5" name="element-94">
            <a:extLst xmlns:a="http://schemas.openxmlformats.org/drawingml/2006/main">
              <a:ext uri="{FF2B5EF4-FFF2-40B4-BE49-F238E27FC236}">
                <a16:creationId xmlns:a16="http://schemas.microsoft.com/office/drawing/2014/main" id="{38B8325D-F2B2-427A-B0F1-848DE0B2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47800"/>
            <a:ext cx="0" cy="438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6" name="element-95">
            <a:extLst xmlns:a="http://schemas.openxmlformats.org/drawingml/2006/main">
              <a:ext uri="{FF2B5EF4-FFF2-40B4-BE49-F238E27FC236}">
                <a16:creationId xmlns:a16="http://schemas.microsoft.com/office/drawing/2014/main" id="{68F98AF9-3237-4B1F-A2B5-2DC85343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AI 知识辅助</a:t>
            </a:r>
          </a:p>
        </p:txBody>
      </p:sp>
      <p:sp>
        <p:nvSpPr>
          <p:cNvPr id="7" name="element-96">
            <a:extLst xmlns:a="http://schemas.openxmlformats.org/drawingml/2006/main">
              <a:ext uri="{FF2B5EF4-FFF2-40B4-BE49-F238E27FC236}">
                <a16:creationId xmlns:a16="http://schemas.microsoft.com/office/drawing/2014/main" id="{C678105E-3FE4-497B-9944-84CB584B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93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知识检索、归纳总结</a:t>
            </a:r>
          </a:p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学习辅助</a:t>
            </a:r>
          </a:p>
        </p:txBody>
      </p:sp>
      <p:sp>
        <p:nvSpPr>
          <p:cNvPr id="8" name="element-97">
            <a:extLst xmlns:a="http://schemas.openxmlformats.org/drawingml/2006/main">
              <a:ext uri="{FF2B5EF4-FFF2-40B4-BE49-F238E27FC236}">
                <a16:creationId xmlns:a16="http://schemas.microsoft.com/office/drawing/2014/main" id="{0943571E-E91F-4539-BFE7-C825170B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工具示例：ChatGPT、Codex</a:t>
            </a:r>
          </a:p>
        </p:txBody>
      </p:sp>
      <p:sp>
        <p:nvSpPr>
          <p:cNvPr id="9" name="element-98">
            <a:extLst xmlns:a="http://schemas.openxmlformats.org/drawingml/2006/main">
              <a:ext uri="{FF2B5EF4-FFF2-40B4-BE49-F238E27FC236}">
                <a16:creationId xmlns:a16="http://schemas.microsoft.com/office/drawing/2014/main" id="{D8F1B57E-7501-4E51-9F1A-DA225590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Agent 与工作流</a:t>
            </a:r>
          </a:p>
        </p:txBody>
      </p:sp>
      <p:sp>
        <p:nvSpPr>
          <p:cNvPr id="10" name="element-99">
            <a:extLst xmlns:a="http://schemas.openxmlformats.org/drawingml/2006/main">
              <a:ext uri="{FF2B5EF4-FFF2-40B4-BE49-F238E27FC236}">
                <a16:creationId xmlns:a16="http://schemas.microsoft.com/office/drawing/2014/main" id="{701F3FC7-6C82-4494-926A-62F51D4F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93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Skill、MCP、工具调用</a:t>
            </a:r>
          </a:p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自动化流程探索</a:t>
            </a:r>
          </a:p>
        </p:txBody>
      </p:sp>
      <p:sp>
        <p:nvSpPr>
          <p:cNvPr id="11" name="element-100">
            <a:extLst xmlns:a="http://schemas.openxmlformats.org/drawingml/2006/main">
              <a:ext uri="{FF2B5EF4-FFF2-40B4-BE49-F238E27FC236}">
                <a16:creationId xmlns:a16="http://schemas.microsoft.com/office/drawing/2014/main" id="{15686FA3-0919-4AB2-B598-F0138EAF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47800"/>
            <a:ext cx="741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潜在业务应用</a:t>
            </a:r>
          </a:p>
        </p:txBody>
      </p:sp>
      <p:sp>
        <p:nvSpPr>
          <p:cNvPr id="12" name="element-101">
            <a:extLst xmlns:a="http://schemas.openxmlformats.org/drawingml/2006/main">
              <a:ext uri="{FF2B5EF4-FFF2-40B4-BE49-F238E27FC236}">
                <a16:creationId xmlns:a16="http://schemas.microsoft.com/office/drawing/2014/main" id="{94CF148A-EC90-4AB4-ADE4-1EF80E1E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741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候选场景，待业务验证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B691D-A596-4CB6-A808-296E1668E56B}"/>
              </a:ext>
            </a:extLst>
          </p:cNvPr>
          <p:cNvGraphicFramePr/>
          <p:nvPr/>
        </p:nvGraphicFramePr>
        <p:xfrm>
          <a:off xmlns:a="http://schemas.openxmlformats.org/drawingml/2006/main" x="4171950" y="2324100"/>
          <a:ext xmlns:a="http://schemas.openxmlformats.org/drawingml/2006/main" cx="7410450" cy="3543300"/>
        </p:xfrm>
        <a:graphic xmlns:a="http://schemas.openxmlformats.org/drawingml/2006/main">
          <a:graphicData uri="http://schemas.openxmlformats.org/drawingml/2006/table">
            <a:tbl>
              <a:tblPr firstRow="0" firstCol="0" lastCol="0" bandRow="0"/>
              <a:tblGrid>
                <a:gridCol w="1524000"/>
                <a:gridCol w="5886450"/>
              </a:tblGrid>
              <a:tr h="4572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01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应用方向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01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候选场景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7429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数据处理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Excel 数据整理、数据清洗与报表生成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业务分析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库存、缺料与交付异常的辅助分析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智能化辅助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知识问答、流程指引与信息提取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业务提效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针对重复工作流程，探索资料自动汇总、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核对与流转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097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lement-102">
            <a:extLst xmlns:a="http://schemas.openxmlformats.org/drawingml/2006/main">
              <a:ext uri="{FF2B5EF4-FFF2-40B4-BE49-F238E27FC236}">
                <a16:creationId xmlns:a16="http://schemas.microsoft.com/office/drawing/2014/main" id="{C0C19AAC-0DD0-4B06-9692-6FD92C9F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下一阶段学习与工作规划</a:t>
            </a:r>
          </a:p>
        </p:txBody>
      </p:sp>
      <p:sp>
        <p:nvSpPr>
          <p:cNvPr id="2" name="element-103">
            <a:extLst xmlns:a="http://schemas.openxmlformats.org/drawingml/2006/main">
              <a:ext uri="{FF2B5EF4-FFF2-40B4-BE49-F238E27FC236}">
                <a16:creationId xmlns:a16="http://schemas.microsoft.com/office/drawing/2014/main" id="{AD6F215A-4101-4D2F-A1CC-EDA7E2C7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" name="element-104">
            <a:extLst xmlns:a="http://schemas.openxmlformats.org/drawingml/2006/main">
              <a:ext uri="{FF2B5EF4-FFF2-40B4-BE49-F238E27FC236}">
                <a16:creationId xmlns:a16="http://schemas.microsoft.com/office/drawing/2014/main" id="{F14DFFE1-49CD-4F55-AE04-DCDA559A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03716-7D75-42E4-94FD-2F6009CD4AC2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0" firstCol="0" lastCol="0" bandRow="0"/>
              <a:tblGrid>
                <a:gridCol w="1276350"/>
                <a:gridCol w="4848225"/>
                <a:gridCol w="4848225"/>
              </a:tblGrid>
              <a:tr h="4762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01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01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 业务学习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01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应用探索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9906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完成阶段练习与复盘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学习产能、库存、采购与物料控制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深化 AI 工具与工作流应用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中期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生产控制、排程、精益生产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选择具体业务场景开展验证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后期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供应链系统、数据分析、综合项目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探索辅助分析工具或自动化方案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lement-105">
            <a:extLst xmlns:a="http://schemas.openxmlformats.org/drawingml/2006/main">
              <a:ext uri="{FF2B5EF4-FFF2-40B4-BE49-F238E27FC236}">
                <a16:creationId xmlns:a16="http://schemas.microsoft.com/office/drawing/2014/main" id="{C84D2F60-9ED5-471A-82EB-C44234E6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预期交付</a:t>
            </a:r>
          </a:p>
        </p:txBody>
      </p:sp>
      <p:sp>
        <p:nvSpPr>
          <p:cNvPr id="6" name="element-106">
            <a:extLst xmlns:a="http://schemas.openxmlformats.org/drawingml/2006/main">
              <a:ext uri="{FF2B5EF4-FFF2-40B4-BE49-F238E27FC236}">
                <a16:creationId xmlns:a16="http://schemas.microsoft.com/office/drawing/2014/main" id="{E09CD5E7-B6ED-4BC2-9712-032192E5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学习资料</a:t>
            </a:r>
          </a:p>
        </p:txBody>
      </p:sp>
      <p:sp>
        <p:nvSpPr>
          <p:cNvPr id="7" name="element-107">
            <a:extLst xmlns:a="http://schemas.openxmlformats.org/drawingml/2006/main">
              <a:ext uri="{FF2B5EF4-FFF2-40B4-BE49-F238E27FC236}">
                <a16:creationId xmlns:a16="http://schemas.microsoft.com/office/drawing/2014/main" id="{E2BE2B97-BB0C-4712-8ED2-6FD8A924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PMC 学习笔记与知识框架</a:t>
            </a:r>
          </a:p>
        </p:txBody>
      </p:sp>
      <p:sp>
        <p:nvSpPr>
          <p:cNvPr id="8" name="element-108">
            <a:extLst xmlns:a="http://schemas.openxmlformats.org/drawingml/2006/main">
              <a:ext uri="{FF2B5EF4-FFF2-40B4-BE49-F238E27FC236}">
                <a16:creationId xmlns:a16="http://schemas.microsoft.com/office/drawing/2014/main" id="{48B81CD9-7FE0-4399-BB03-33C3AC08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0547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element-109">
            <a:extLst xmlns:a="http://schemas.openxmlformats.org/drawingml/2006/main">
              <a:ext uri="{FF2B5EF4-FFF2-40B4-BE49-F238E27FC236}">
                <a16:creationId xmlns:a16="http://schemas.microsoft.com/office/drawing/2014/main" id="{83D85402-9CE2-4A2A-91B3-03F6BC48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959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综合案例</a:t>
            </a:r>
          </a:p>
        </p:txBody>
      </p:sp>
      <p:sp>
        <p:nvSpPr>
          <p:cNvPr id="10" name="element-110">
            <a:extLst xmlns:a="http://schemas.openxmlformats.org/drawingml/2006/main">
              <a:ext uri="{FF2B5EF4-FFF2-40B4-BE49-F238E27FC236}">
                <a16:creationId xmlns:a16="http://schemas.microsoft.com/office/drawing/2014/main" id="{516813BE-EA06-4DC5-9982-AE974C63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674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汽车线束业务综合计划分析</a:t>
            </a:r>
          </a:p>
        </p:txBody>
      </p:sp>
      <p:sp>
        <p:nvSpPr>
          <p:cNvPr id="11" name="element-111">
            <a:extLst xmlns:a="http://schemas.openxmlformats.org/drawingml/2006/main">
              <a:ext uri="{FF2B5EF4-FFF2-40B4-BE49-F238E27FC236}">
                <a16:creationId xmlns:a16="http://schemas.microsoft.com/office/drawing/2014/main" id="{A8AEF88A-E41C-4554-A57A-9BC07177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0547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2" name="element-112">
            <a:extLst xmlns:a="http://schemas.openxmlformats.org/drawingml/2006/main">
              <a:ext uri="{FF2B5EF4-FFF2-40B4-BE49-F238E27FC236}">
                <a16:creationId xmlns:a16="http://schemas.microsoft.com/office/drawing/2014/main" id="{6E553DDC-94FF-49BF-8797-99A16805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959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应用原型</a:t>
            </a:r>
          </a:p>
        </p:txBody>
      </p:sp>
      <p:sp>
        <p:nvSpPr>
          <p:cNvPr id="13" name="element-113">
            <a:extLst xmlns:a="http://schemas.openxmlformats.org/drawingml/2006/main">
              <a:ext uri="{FF2B5EF4-FFF2-40B4-BE49-F238E27FC236}">
                <a16:creationId xmlns:a16="http://schemas.microsoft.com/office/drawing/2014/main" id="{DC1B1204-6103-4DE7-8707-E4350095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0674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AI 辅助分析或流程自动化原型</a:t>
            </a:r>
          </a:p>
        </p:txBody>
      </p:sp>
    </p:spTree>
    <p:extLst>
      <p:ext uri="{BB962C8B-B14F-4D97-AF65-F5344CB8AC3E}">
        <p14:creationId xmlns:p14="http://schemas.microsoft.com/office/powerpoint/2010/main" val="2053716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2026-10-20T08:38:34.1510000Z</dcterms:created>
  <dcterms:modified xsi:type="dcterms:W3CDTF">2026-10-20T08:38:34.1510000Z</dcterms:modified>
</coreProperties>
</file>