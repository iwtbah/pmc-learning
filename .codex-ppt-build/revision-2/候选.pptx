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e42b7617a446b9" /><Relationship Type="http://schemas.openxmlformats.org/officeDocument/2006/relationships/extended-properties" Target="/docProps/app.xml" Id="Rc4b9e5cc81f64f41" /><Relationship Type="http://schemas.openxmlformats.org/officeDocument/2006/relationships/officeDocument" Target="/ppt/presentation.xml" Id="R71ed814a8ce144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c90fc774ec4332"/>
  </p:sldMasterIdLst>
  <p:notesMasterIdLst>
    <p:notesMasterId xmlns:r="http://schemas.openxmlformats.org/officeDocument/2006/relationships" r:id="R7e6a6320ec9a4124"/>
  </p:notesMasterIdLst>
  <p:sldIdLst>
    <p:sldId xmlns:r="http://schemas.openxmlformats.org/officeDocument/2006/relationships" id="256" r:id="Rbb4aa7364af34d0e"/>
    <p:sldId xmlns:r="http://schemas.openxmlformats.org/officeDocument/2006/relationships" id="257" r:id="Rf24fa868d0cc45ef"/>
    <p:sldId xmlns:r="http://schemas.openxmlformats.org/officeDocument/2006/relationships" id="258" r:id="R57409cc1722b4be8"/>
    <p:sldId xmlns:r="http://schemas.openxmlformats.org/officeDocument/2006/relationships" id="259" r:id="R7b5a1f36196344ad"/>
    <p:sldId xmlns:r="http://schemas.openxmlformats.org/officeDocument/2006/relationships" id="260" r:id="Rf0ddcadb62464a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b1929a9a6c48e5" /><Relationship Type="http://schemas.openxmlformats.org/officeDocument/2006/relationships/slideMaster" Target="/ppt/slideMasters/slideMaster1.xml" Id="R92c90fc774ec4332" /><Relationship Type="http://schemas.openxmlformats.org/officeDocument/2006/relationships/notesMaster" Target="/ppt/notesMasters/notesMaster1.xml" Id="R7e6a6320ec9a4124" /><Relationship Type="http://schemas.openxmlformats.org/officeDocument/2006/relationships/presProps" Target="/ppt/presProps.xml" Id="Rde83a9503acb4d34" /><Relationship Type="http://schemas.openxmlformats.org/officeDocument/2006/relationships/tableStyles" Target="/ppt/tableStyles.xml" Id="R16d501cc219b42f8" /><Relationship Type="http://schemas.openxmlformats.org/officeDocument/2006/relationships/slide" Target="/ppt/slides/slide1.xml" Id="Rbb4aa7364af34d0e" /><Relationship Type="http://schemas.openxmlformats.org/officeDocument/2006/relationships/slide" Target="/ppt/slides/slide2.xml" Id="Rf24fa868d0cc45ef" /><Relationship Type="http://schemas.openxmlformats.org/officeDocument/2006/relationships/slide" Target="/ppt/slides/slide3.xml" Id="R57409cc1722b4be8" /><Relationship Type="http://schemas.openxmlformats.org/officeDocument/2006/relationships/slide" Target="/ppt/slides/slide4.xml" Id="R7b5a1f36196344ad" /><Relationship Type="http://schemas.openxmlformats.org/officeDocument/2006/relationships/slide" Target="/ppt/slides/slide5.xml" Id="Rf0ddcadb62464a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570c37170847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6556abd1554a7f" /><Relationship Type="http://schemas.openxmlformats.org/officeDocument/2006/relationships/notesMaster" Target="/ppt/notesMasters/notesMaster1.xml" Id="Ra3b1280d28f648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39747f0eca47bf" /><Relationship Type="http://schemas.openxmlformats.org/officeDocument/2006/relationships/notesMaster" Target="/ppt/notesMasters/notesMaster1.xml" Id="R51be84255ac04f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7f3f3692564afb" /><Relationship Type="http://schemas.openxmlformats.org/officeDocument/2006/relationships/notesMaster" Target="/ppt/notesMasters/notesMaster1.xml" Id="R4f0602d22f0742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0af2a79413486e" /><Relationship Type="http://schemas.openxmlformats.org/officeDocument/2006/relationships/notesMaster" Target="/ppt/notesMasters/notesMaster1.xml" Id="R0e3334bf55ac47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8c4d9fad864d98" /><Relationship Type="http://schemas.openxmlformats.org/officeDocument/2006/relationships/notesMaster" Target="/ppt/notesMasters/notesMaster1.xml" Id="Ra2b7a4a0f6664a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依据：工作区《学习目标与计划.md》《学习进度.md》及用户阶段汇报大纲。汇报人为待填写项。业务案例属于教学模拟，不代表真实企业项目。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学习目标与计划.md》第3节课程安排；《学习进度.md》当前学习位置及各章进度总览。8周为计划周期，未作为实际耗时。6÷15=40%仅表示已经覆盖的章节范围。当前6.1～6.6框架已讲解，综合练习尚未开展，第4、5章综合验证也未完成。01～06为已学习范围，07～15为后续学习。综合项目不另计章节。S&amp;OP为销售与运营计划，MPS为主生产计划，MRP为物料需求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学习目标与计划.md》01～06章与《学习进度.md》已讲范围。结构参考用户提供图片中的需求管理、S&amp;OP、MPS、MRP与执行业务链。01～02提供业务和数据基础，03～06沿计划链展开。采购计划、生产执行和物料控制仅表示后续业务关系，不代表相应章节已经学习。认知收获为阶段理解，不代表完整独立操作能力。PMC：生产与物料控制（Production &amp; Material Control）；BOM：物料清单（Bill of Materials）；提前期（Lead Time）。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用户提供的AI探索方向。AI工具学习及业务应用均为探索方向，未宣称已经掌握、落地或取得效率收益。业务提效针对重复工作流程，资料汇总、核对、流转均属于候选场景，不作为已完成案例。Skill指可复用技能，MCP指模型上下文协议（Model Context Protocol），Agent指智能体。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MC路线来源：《学习目标与计划.md》第3节课程安排与最终综合项目要求。第4～6章仍有待完成练习，近期先完成阶段复盘。AI应用探索及原型为未来计划，不表示已完成成果，不承诺具体日期或业务收益。预期交付的综合案例使用教学模拟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8ae19fa5b44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607b1e37d43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25c28a82f40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50354621040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2b388325743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87fda40f441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274C81-D8F4-47E0-A2B6-81A4920DE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0FC8D2-5835-442B-8174-EC4620996B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9AF337-3361-44F7-B545-A0DB117264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698156-9323-4C75-9E32-5CA7E62086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799A04-C80F-4471-958A-464148389F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325FD7-0045-4087-969D-E5C9F4CEF7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815D4A-5B3D-4928-A327-C72A7FF130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3D77F2-341A-4A58-AA14-412A9DE61B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9DB2A7-0DB3-49AE-9FF1-1AEC4743C0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A30C6B-C746-4719-A4F3-63AA225CD6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cff330f8494f29" /><Relationship Type="http://schemas.openxmlformats.org/officeDocument/2006/relationships/slideLayout" Target="/ppt/slideLayouts/slideLayout1.xml" Id="Rf1df8c369a224743" /><Relationship Type="http://schemas.openxmlformats.org/officeDocument/2006/relationships/slideLayout" Target="/ppt/slideLayouts/slideLayout2.xml" Id="Re15251f0167249d3" /><Relationship Type="http://schemas.openxmlformats.org/officeDocument/2006/relationships/slideLayout" Target="/ppt/slideLayouts/slideLayout3.xml" Id="R5dc4201d4ae54632" /><Relationship Type="http://schemas.openxmlformats.org/officeDocument/2006/relationships/slideLayout" Target="/ppt/slideLayouts/slideLayout4.xml" Id="R442972e618e3410e" /><Relationship Type="http://schemas.openxmlformats.org/officeDocument/2006/relationships/slideLayout" Target="/ppt/slideLayouts/slideLayout5.xml" Id="Rf724ee3166a14ece" /><Relationship Type="http://schemas.openxmlformats.org/officeDocument/2006/relationships/slideLayout" Target="/ppt/slideLayouts/slideLayout6.xml" Id="R0a8addf9fedb4e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df8c369a224743"/>
    <p:sldLayoutId xmlns:r="http://schemas.openxmlformats.org/officeDocument/2006/relationships" id="2147483650" r:id="Re15251f0167249d3"/>
    <p:sldLayoutId xmlns:r="http://schemas.openxmlformats.org/officeDocument/2006/relationships" id="2147483651" r:id="R5dc4201d4ae54632"/>
    <p:sldLayoutId xmlns:r="http://schemas.openxmlformats.org/officeDocument/2006/relationships" id="2147483652" r:id="R442972e618e3410e"/>
    <p:sldLayoutId xmlns:r="http://schemas.openxmlformats.org/officeDocument/2006/relationships" id="2147483653" r:id="Rf724ee3166a14ece"/>
    <p:sldLayoutId xmlns:r="http://schemas.openxmlformats.org/officeDocument/2006/relationships" id="2147483654" r:id="R0a8addf9fedb4e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eff1861b864a5e" /><Relationship Type="http://schemas.openxmlformats.org/officeDocument/2006/relationships/notesSlide" Target="/ppt/notesSlides/notesSlide1.xml" Id="R47928906eee841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ed39dfd7b4f4b" /><Relationship Type="http://schemas.openxmlformats.org/officeDocument/2006/relationships/notesSlide" Target="/ppt/notesSlides/notesSlide2.xml" Id="Ra3b5342884884e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908fb2f25f4b7f" /><Relationship Type="http://schemas.openxmlformats.org/officeDocument/2006/relationships/notesSlide" Target="/ppt/notesSlides/notesSlide3.xml" Id="Rd9d2536aa1d44e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2ac42fc8734fac" /><Relationship Type="http://schemas.openxmlformats.org/officeDocument/2006/relationships/notesSlide" Target="/ppt/notesSlides/notesSlide4.xml" Id="R1dd50379cf2b44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2daece3fe4078" /><Relationship Type="http://schemas.openxmlformats.org/officeDocument/2006/relationships/notesSlide" Target="/ppt/notesSlides/notesSlide5.xml" Id="Rdc155e9f930742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lement-1">
            <a:extLst xmlns:a="http://schemas.openxmlformats.org/drawingml/2006/main">
              <a:ext uri="{FF2B5EF4-FFF2-40B4-BE49-F238E27FC236}">
                <a16:creationId xmlns:a16="http://schemas.microsoft.com/office/drawing/2014/main" id="{FC56087B-8BF2-47E4-A633-510CE35F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9525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PMC 业务学习阶段总结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 AI 技术应用探索</a:t>
            </a:r>
          </a:p>
        </p:txBody>
      </p:sp>
      <p:sp>
        <p:nvSpPr>
          <p:cNvPr id="2" name="element-2">
            <a:extLst xmlns:a="http://schemas.openxmlformats.org/drawingml/2006/main">
              <a:ext uri="{FF2B5EF4-FFF2-40B4-BE49-F238E27FC236}">
                <a16:creationId xmlns:a16="http://schemas.microsoft.com/office/drawing/2014/main" id="{38135AFA-D5E0-48A9-A178-C75525F1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9B9ED"/>
            </a:solidFill>
            <a:prstDash val="solid"/>
          </a:ln>
        </p:spPr>
      </p:sp>
      <p:sp>
        <p:nvSpPr>
          <p:cNvPr id="3" name="element-3">
            <a:extLst xmlns:a="http://schemas.openxmlformats.org/drawingml/2006/main">
              <a:ext uri="{FF2B5EF4-FFF2-40B4-BE49-F238E27FC236}">
                <a16:creationId xmlns:a16="http://schemas.microsoft.com/office/drawing/2014/main" id="{19E26670-5772-4809-AF21-76E3409C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汇报人：[待填写]</a:t>
            </a:r>
          </a:p>
        </p:txBody>
      </p:sp>
      <p:sp>
        <p:nvSpPr>
          <p:cNvPr id="4" name="element-4">
            <a:extLst xmlns:a="http://schemas.openxmlformats.org/drawingml/2006/main">
              <a:ext uri="{FF2B5EF4-FFF2-40B4-BE49-F238E27FC236}">
                <a16:creationId xmlns:a16="http://schemas.microsoft.com/office/drawing/2014/main" id="{8F4B111B-6FDF-4619-B8F3-010D863D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C9DA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  <p:sp>
        <p:nvSpPr>
          <p:cNvPr id="5" name="element-5">
            <a:extLst xmlns:a="http://schemas.openxmlformats.org/drawingml/2006/main">
              <a:ext uri="{FF2B5EF4-FFF2-40B4-BE49-F238E27FC236}">
                <a16:creationId xmlns:a16="http://schemas.microsoft.com/office/drawing/2014/main" id="{511491F8-0C46-4B11-8109-CC5181EB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764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6" name="element-6">
            <a:extLst xmlns:a="http://schemas.openxmlformats.org/drawingml/2006/main">
              <a:ext uri="{FF2B5EF4-FFF2-40B4-BE49-F238E27FC236}">
                <a16:creationId xmlns:a16="http://schemas.microsoft.com/office/drawing/2014/main" id="{A031C6C3-B036-404A-9E72-45FAA934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6764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7" name="element-7">
            <a:extLst xmlns:a="http://schemas.openxmlformats.org/drawingml/2006/main">
              <a:ext uri="{FF2B5EF4-FFF2-40B4-BE49-F238E27FC236}">
                <a16:creationId xmlns:a16="http://schemas.microsoft.com/office/drawing/2014/main" id="{BD1BB637-A3EA-48F8-B063-83727077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6764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8" name="element-8">
            <a:extLst xmlns:a="http://schemas.openxmlformats.org/drawingml/2006/main">
              <a:ext uri="{FF2B5EF4-FFF2-40B4-BE49-F238E27FC236}">
                <a16:creationId xmlns:a16="http://schemas.microsoft.com/office/drawing/2014/main" id="{C14C9891-4582-4F30-98A2-94F398A5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6764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9" name="element-9">
            <a:extLst xmlns:a="http://schemas.openxmlformats.org/drawingml/2006/main">
              <a:ext uri="{FF2B5EF4-FFF2-40B4-BE49-F238E27FC236}">
                <a16:creationId xmlns:a16="http://schemas.microsoft.com/office/drawing/2014/main" id="{2C218987-0972-4CD5-B91C-7DF3A70C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6764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0" name="element-10">
            <a:extLst xmlns:a="http://schemas.openxmlformats.org/drawingml/2006/main">
              <a:ext uri="{FF2B5EF4-FFF2-40B4-BE49-F238E27FC236}">
                <a16:creationId xmlns:a16="http://schemas.microsoft.com/office/drawing/2014/main" id="{6DA4E450-BFDD-4228-80CF-EBF67765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716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1" name="element-11">
            <a:extLst xmlns:a="http://schemas.openxmlformats.org/drawingml/2006/main">
              <a:ext uri="{FF2B5EF4-FFF2-40B4-BE49-F238E27FC236}">
                <a16:creationId xmlns:a16="http://schemas.microsoft.com/office/drawing/2014/main" id="{EADF8BFC-9E37-4A79-9C50-1F2673FE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145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2" name="element-12">
            <a:extLst xmlns:a="http://schemas.openxmlformats.org/drawingml/2006/main">
              <a:ext uri="{FF2B5EF4-FFF2-40B4-BE49-F238E27FC236}">
                <a16:creationId xmlns:a16="http://schemas.microsoft.com/office/drawing/2014/main" id="{B0205965-AF90-463B-BB46-FE49558C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574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3" name="element-13">
            <a:extLst xmlns:a="http://schemas.openxmlformats.org/drawingml/2006/main">
              <a:ext uri="{FF2B5EF4-FFF2-40B4-BE49-F238E27FC236}">
                <a16:creationId xmlns:a16="http://schemas.microsoft.com/office/drawing/2014/main" id="{9698E5FE-55C1-4B75-B185-40A24E3B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003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4" name="element-14">
            <a:extLst xmlns:a="http://schemas.openxmlformats.org/drawingml/2006/main">
              <a:ext uri="{FF2B5EF4-FFF2-40B4-BE49-F238E27FC236}">
                <a16:creationId xmlns:a16="http://schemas.microsoft.com/office/drawing/2014/main" id="{957E49EC-5433-4691-9B60-1B03AC0D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5" name="element-15">
            <a:extLst xmlns:a="http://schemas.openxmlformats.org/drawingml/2006/main">
              <a:ext uri="{FF2B5EF4-FFF2-40B4-BE49-F238E27FC236}">
                <a16:creationId xmlns:a16="http://schemas.microsoft.com/office/drawing/2014/main" id="{9DF70059-BDB7-4260-A1B2-B496C69A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861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6" name="element-16">
            <a:extLst xmlns:a="http://schemas.openxmlformats.org/drawingml/2006/main">
              <a:ext uri="{FF2B5EF4-FFF2-40B4-BE49-F238E27FC236}">
                <a16:creationId xmlns:a16="http://schemas.microsoft.com/office/drawing/2014/main" id="{2D05A3B6-9BA8-4BEC-B666-219159F0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290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7" name="element-17">
            <a:extLst xmlns:a="http://schemas.openxmlformats.org/drawingml/2006/main">
              <a:ext uri="{FF2B5EF4-FFF2-40B4-BE49-F238E27FC236}">
                <a16:creationId xmlns:a16="http://schemas.microsoft.com/office/drawing/2014/main" id="{DDBC375C-AC8E-499D-9473-A74AF5B0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719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8" name="element-18">
            <a:extLst xmlns:a="http://schemas.openxmlformats.org/drawingml/2006/main">
              <a:ext uri="{FF2B5EF4-FFF2-40B4-BE49-F238E27FC236}">
                <a16:creationId xmlns:a16="http://schemas.microsoft.com/office/drawing/2014/main" id="{8FDCD195-131E-4092-97B3-CDF9605E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148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64E"/>
            </a:solidFill>
            <a:prstDash val="solid"/>
          </a:ln>
        </p:spPr>
      </p:sp>
      <p:sp>
        <p:nvSpPr>
          <p:cNvPr id="19" name="element-19">
            <a:extLst xmlns:a="http://schemas.openxmlformats.org/drawingml/2006/main">
              <a:ext uri="{FF2B5EF4-FFF2-40B4-BE49-F238E27FC236}">
                <a16:creationId xmlns:a16="http://schemas.microsoft.com/office/drawing/2014/main" id="{D548BBD5-6771-452D-B90A-4DF6400D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86150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7AA8"/>
            </a:solidFill>
            <a:prstDash val="solid"/>
          </a:ln>
        </p:spPr>
      </p:sp>
      <p:sp>
        <p:nvSpPr>
          <p:cNvPr id="20" name="element-20">
            <a:extLst xmlns:a="http://schemas.openxmlformats.org/drawingml/2006/main">
              <a:ext uri="{FF2B5EF4-FFF2-40B4-BE49-F238E27FC236}">
                <a16:creationId xmlns:a16="http://schemas.microsoft.com/office/drawing/2014/main" id="{577060E8-C1CF-494D-BF7C-9A4DB651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FA6B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7212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lement-21">
            <a:extLst xmlns:a="http://schemas.openxmlformats.org/drawingml/2006/main">
              <a:ext uri="{FF2B5EF4-FFF2-40B4-BE49-F238E27FC236}">
                <a16:creationId xmlns:a16="http://schemas.microsoft.com/office/drawing/2014/main" id="{17514BCD-1E31-4848-A72F-5C962DA8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学习计划与阶段进度</a:t>
            </a:r>
          </a:p>
        </p:txBody>
      </p:sp>
      <p:sp>
        <p:nvSpPr>
          <p:cNvPr id="2" name="element-22">
            <a:extLst xmlns:a="http://schemas.openxmlformats.org/drawingml/2006/main">
              <a:ext uri="{FF2B5EF4-FFF2-40B4-BE49-F238E27FC236}">
                <a16:creationId xmlns:a16="http://schemas.microsoft.com/office/drawing/2014/main" id="{059D1828-7D84-46D4-A7B1-0C0E88BB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" name="element-23">
            <a:extLst xmlns:a="http://schemas.openxmlformats.org/drawingml/2006/main">
              <a:ext uri="{FF2B5EF4-FFF2-40B4-BE49-F238E27FC236}">
                <a16:creationId xmlns:a16="http://schemas.microsoft.com/office/drawing/2014/main" id="{0C0685B4-0685-4436-9395-45A0DD58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element-24">
            <a:extLst xmlns:a="http://schemas.openxmlformats.org/drawingml/2006/main">
              <a:ext uri="{FF2B5EF4-FFF2-40B4-BE49-F238E27FC236}">
                <a16:creationId xmlns:a16="http://schemas.microsoft.com/office/drawing/2014/main" id="{E2F90AE5-FA78-46AC-9BA0-3307F539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24000"/>
            <a:ext cx="0" cy="441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5" name="element-25">
            <a:extLst xmlns:a="http://schemas.openxmlformats.org/drawingml/2006/main">
              <a:ext uri="{FF2B5EF4-FFF2-40B4-BE49-F238E27FC236}">
                <a16:creationId xmlns:a16="http://schemas.microsoft.com/office/drawing/2014/main" id="{F01B5925-FA54-4049-B2B1-85D15FA8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8 周</a:t>
            </a:r>
          </a:p>
        </p:txBody>
      </p:sp>
      <p:sp>
        <p:nvSpPr>
          <p:cNvPr id="6" name="element-26">
            <a:extLst xmlns:a="http://schemas.openxmlformats.org/drawingml/2006/main">
              <a:ext uri="{FF2B5EF4-FFF2-40B4-BE49-F238E27FC236}">
                <a16:creationId xmlns:a16="http://schemas.microsoft.com/office/drawing/2014/main" id="{A9E772B5-B611-44F8-9804-FC282429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总体学习周期</a:t>
            </a:r>
          </a:p>
        </p:txBody>
      </p:sp>
      <p:sp>
        <p:nvSpPr>
          <p:cNvPr id="7" name="element-27">
            <a:extLst xmlns:a="http://schemas.openxmlformats.org/drawingml/2006/main">
              <a:ext uri="{FF2B5EF4-FFF2-40B4-BE49-F238E27FC236}">
                <a16:creationId xmlns:a16="http://schemas.microsoft.com/office/drawing/2014/main" id="{E417D720-9EC3-4D56-B09B-68450A52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15 章</a:t>
            </a:r>
          </a:p>
        </p:txBody>
      </p:sp>
      <p:sp>
        <p:nvSpPr>
          <p:cNvPr id="8" name="element-28">
            <a:extLst xmlns:a="http://schemas.openxmlformats.org/drawingml/2006/main">
              <a:ext uri="{FF2B5EF4-FFF2-40B4-BE49-F238E27FC236}">
                <a16:creationId xmlns:a16="http://schemas.microsoft.com/office/drawing/2014/main" id="{4F7A1589-F412-475E-BE9A-11B6E484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课程模块</a:t>
            </a:r>
          </a:p>
        </p:txBody>
      </p:sp>
      <p:sp>
        <p:nvSpPr>
          <p:cNvPr id="9" name="element-29">
            <a:extLst xmlns:a="http://schemas.openxmlformats.org/drawingml/2006/main">
              <a:ext uri="{FF2B5EF4-FFF2-40B4-BE49-F238E27FC236}">
                <a16:creationId xmlns:a16="http://schemas.microsoft.com/office/drawing/2014/main" id="{0D3E79D0-AFF2-46A2-8261-14CE6092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第 6 章 MRP</a:t>
            </a:r>
          </a:p>
        </p:txBody>
      </p:sp>
      <p:sp>
        <p:nvSpPr>
          <p:cNvPr id="10" name="element-30">
            <a:extLst xmlns:a="http://schemas.openxmlformats.org/drawingml/2006/main">
              <a:ext uri="{FF2B5EF4-FFF2-40B4-BE49-F238E27FC236}">
                <a16:creationId xmlns:a16="http://schemas.microsoft.com/office/drawing/2014/main" id="{4D7E2DA2-301E-4F60-ACDD-900B18F7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当前学习位置</a:t>
            </a:r>
          </a:p>
          <a:p xmlns:a="http://schemas.openxmlformats.org/drawingml/2006/main">
            <a: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框架已讲解，综合练习待完成</a:t>
            </a:r>
          </a:p>
        </p:txBody>
      </p:sp>
      <p:sp>
        <p:nvSpPr>
          <p:cNvPr id="11" name="element-31">
            <a:extLst xmlns:a="http://schemas.openxmlformats.org/drawingml/2006/main">
              <a:ext uri="{FF2B5EF4-FFF2-40B4-BE49-F238E27FC236}">
                <a16:creationId xmlns:a16="http://schemas.microsoft.com/office/drawing/2014/main" id="{14BE9E9F-4A1A-457D-A89C-02D9E944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57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章节覆盖</a:t>
            </a:r>
          </a:p>
        </p:txBody>
      </p:sp>
      <p:sp>
        <p:nvSpPr>
          <p:cNvPr id="12" name="element-32">
            <a:extLst xmlns:a="http://schemas.openxmlformats.org/drawingml/2006/main">
              <a:ext uri="{FF2B5EF4-FFF2-40B4-BE49-F238E27FC236}">
                <a16:creationId xmlns:a16="http://schemas.microsoft.com/office/drawing/2014/main" id="{0941F313-649C-466A-BDA9-27BF5A61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4001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6 / 15 章</a:t>
            </a:r>
          </a:p>
        </p:txBody>
      </p:sp>
      <p:sp>
        <p:nvSpPr>
          <p:cNvPr id="13" name="element-33">
            <a:extLst xmlns:a="http://schemas.openxmlformats.org/drawingml/2006/main">
              <a:ext uri="{FF2B5EF4-FFF2-40B4-BE49-F238E27FC236}">
                <a16:creationId xmlns:a16="http://schemas.microsoft.com/office/drawing/2014/main" id="{10DBA21B-0B93-4C9F-8825-AE823400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9775"/>
            <a:ext cx="7734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lement-34">
            <a:extLst xmlns:a="http://schemas.openxmlformats.org/drawingml/2006/main">
              <a:ext uri="{FF2B5EF4-FFF2-40B4-BE49-F238E27FC236}">
                <a16:creationId xmlns:a16="http://schemas.microsoft.com/office/drawing/2014/main" id="{D3FA06B9-9DB7-4690-971D-66B03EC7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9775"/>
            <a:ext cx="309372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lement-35">
            <a:extLst xmlns:a="http://schemas.openxmlformats.org/drawingml/2006/main">
              <a:ext uri="{FF2B5EF4-FFF2-40B4-BE49-F238E27FC236}">
                <a16:creationId xmlns:a16="http://schemas.microsoft.com/office/drawing/2014/main" id="{967119FD-374E-46B8-A7AE-7772FB9E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47900"/>
            <a:ext cx="773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40% 为章节覆盖率，不代表知识掌握度</a:t>
            </a:r>
          </a:p>
        </p:txBody>
      </p:sp>
      <p:sp>
        <p:nvSpPr>
          <p:cNvPr id="16" name="element-36">
            <a:extLst xmlns:a="http://schemas.openxmlformats.org/drawingml/2006/main">
              <a:ext uri="{FF2B5EF4-FFF2-40B4-BE49-F238E27FC236}">
                <a16:creationId xmlns:a16="http://schemas.microsoft.com/office/drawing/2014/main" id="{A866E72B-BE90-49B7-A1A7-14252310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76575"/>
            <a:ext cx="0" cy="260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E7"/>
            </a:solidFill>
            <a:prstDash val="solid"/>
          </a:ln>
        </p:spPr>
      </p:sp>
      <p:sp>
        <p:nvSpPr>
          <p:cNvPr id="17" name="element-37">
            <a:extLst xmlns:a="http://schemas.openxmlformats.org/drawingml/2006/main">
              <a:ext uri="{FF2B5EF4-FFF2-40B4-BE49-F238E27FC236}">
                <a16:creationId xmlns:a16="http://schemas.microsoft.com/office/drawing/2014/main" id="{21BED442-D161-46FF-AC15-C617B221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lement-38">
            <a:extLst xmlns:a="http://schemas.openxmlformats.org/drawingml/2006/main">
              <a:ext uri="{FF2B5EF4-FFF2-40B4-BE49-F238E27FC236}">
                <a16:creationId xmlns:a16="http://schemas.microsoft.com/office/drawing/2014/main" id="{CF83CB0B-51A2-4E8D-AB9D-934B8E86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765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01–06</a:t>
            </a:r>
          </a:p>
        </p:txBody>
      </p:sp>
      <p:sp>
        <p:nvSpPr>
          <p:cNvPr id="19" name="element-39">
            <a:extLst xmlns:a="http://schemas.openxmlformats.org/drawingml/2006/main">
              <a:ext uri="{FF2B5EF4-FFF2-40B4-BE49-F238E27FC236}">
                <a16:creationId xmlns:a16="http://schemas.microsoft.com/office/drawing/2014/main" id="{E1C10AEA-62EC-4DA6-80DD-B831746F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615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基础认知与计划管理</a:t>
            </a:r>
          </a:p>
        </p:txBody>
      </p:sp>
      <p:sp>
        <p:nvSpPr>
          <p:cNvPr id="20" name="element-40">
            <a:extLst xmlns:a="http://schemas.openxmlformats.org/drawingml/2006/main">
              <a:ext uri="{FF2B5EF4-FFF2-40B4-BE49-F238E27FC236}">
                <a16:creationId xmlns:a16="http://schemas.microsoft.com/office/drawing/2014/main" id="{6433FD74-EDF5-45D5-8514-1EAC14E7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051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已覆盖</a:t>
            </a:r>
          </a:p>
        </p:txBody>
      </p:sp>
      <p:sp>
        <p:nvSpPr>
          <p:cNvPr id="21" name="element-41">
            <a:extLst xmlns:a="http://schemas.openxmlformats.org/drawingml/2006/main">
              <a:ext uri="{FF2B5EF4-FFF2-40B4-BE49-F238E27FC236}">
                <a16:creationId xmlns:a16="http://schemas.microsoft.com/office/drawing/2014/main" id="{3C9EA71C-F766-4B25-9C8B-AC4E0874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4700"/>
            <a:ext cx="615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供应链基础、制造基础数据、需求管理</a:t>
            </a:r>
          </a:p>
          <a:p xmlns:a="http://schemas.openxmlformats.org/drawingml/2006/main">
            <a: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S&amp;OP、MPS、MRP</a:t>
            </a:r>
          </a:p>
        </p:txBody>
      </p:sp>
      <p:sp>
        <p:nvSpPr>
          <p:cNvPr id="22" name="element-42">
            <a:extLst xmlns:a="http://schemas.openxmlformats.org/drawingml/2006/main">
              <a:ext uri="{FF2B5EF4-FFF2-40B4-BE49-F238E27FC236}">
                <a16:creationId xmlns:a16="http://schemas.microsoft.com/office/drawing/2014/main" id="{56BFA1FE-80AF-4D2D-B485-5776401D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9B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lement-43">
            <a:extLst xmlns:a="http://schemas.openxmlformats.org/drawingml/2006/main">
              <a:ext uri="{FF2B5EF4-FFF2-40B4-BE49-F238E27FC236}">
                <a16:creationId xmlns:a16="http://schemas.microsoft.com/office/drawing/2014/main" id="{F629E492-5004-4548-AD17-85565DF0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rPr>
              <a:t>07–12</a:t>
            </a:r>
          </a:p>
        </p:txBody>
      </p:sp>
      <p:sp>
        <p:nvSpPr>
          <p:cNvPr id="24" name="element-44">
            <a:extLst xmlns:a="http://schemas.openxmlformats.org/drawingml/2006/main">
              <a:ext uri="{FF2B5EF4-FFF2-40B4-BE49-F238E27FC236}">
                <a16:creationId xmlns:a16="http://schemas.microsoft.com/office/drawing/2014/main" id="{9FB04480-1052-4767-A8B8-15D53F49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19550"/>
            <a:ext cx="615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执行与资源管理</a:t>
            </a:r>
          </a:p>
        </p:txBody>
      </p:sp>
      <p:sp>
        <p:nvSpPr>
          <p:cNvPr id="25" name="element-45">
            <a:extLst xmlns:a="http://schemas.openxmlformats.org/drawingml/2006/main">
              <a:ext uri="{FF2B5EF4-FFF2-40B4-BE49-F238E27FC236}">
                <a16:creationId xmlns:a16="http://schemas.microsoft.com/office/drawing/2014/main" id="{769B5988-2C22-4435-8BD4-F6C27B6F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481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rPr>
              <a:t>后续学习</a:t>
            </a:r>
          </a:p>
        </p:txBody>
      </p:sp>
      <p:sp>
        <p:nvSpPr>
          <p:cNvPr id="26" name="element-46">
            <a:extLst xmlns:a="http://schemas.openxmlformats.org/drawingml/2006/main">
              <a:ext uri="{FF2B5EF4-FFF2-40B4-BE49-F238E27FC236}">
                <a16:creationId xmlns:a16="http://schemas.microsoft.com/office/drawing/2014/main" id="{D11BCC1A-EABA-4ECB-883B-6E0DE440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57700"/>
            <a:ext cx="615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产能、库存、采购、物料控制</a:t>
            </a:r>
          </a:p>
          <a:p xmlns:a="http://schemas.openxmlformats.org/drawingml/2006/main">
            <a: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生产控制、排程</a:t>
            </a:r>
          </a:p>
        </p:txBody>
      </p:sp>
      <p:sp>
        <p:nvSpPr>
          <p:cNvPr id="27" name="element-47">
            <a:extLst xmlns:a="http://schemas.openxmlformats.org/drawingml/2006/main">
              <a:ext uri="{FF2B5EF4-FFF2-40B4-BE49-F238E27FC236}">
                <a16:creationId xmlns:a16="http://schemas.microsoft.com/office/drawing/2014/main" id="{5A4FA342-8D0F-4BB8-8237-CF1EAB94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9B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lement-48">
            <a:extLst xmlns:a="http://schemas.openxmlformats.org/drawingml/2006/main">
              <a:ext uri="{FF2B5EF4-FFF2-40B4-BE49-F238E27FC236}">
                <a16:creationId xmlns:a16="http://schemas.microsoft.com/office/drawing/2014/main" id="{DB94243A-7296-4C92-8284-F13CB636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625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rPr>
              <a:t>13–15</a:t>
            </a:r>
          </a:p>
        </p:txBody>
      </p:sp>
      <p:sp>
        <p:nvSpPr>
          <p:cNvPr id="29" name="element-49">
            <a:extLst xmlns:a="http://schemas.openxmlformats.org/drawingml/2006/main">
              <a:ext uri="{FF2B5EF4-FFF2-40B4-BE49-F238E27FC236}">
                <a16:creationId xmlns:a16="http://schemas.microsoft.com/office/drawing/2014/main" id="{8891E7A8-8F33-48AD-A716-241839AF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62550"/>
            <a:ext cx="615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综合应用</a:t>
            </a:r>
          </a:p>
        </p:txBody>
      </p:sp>
      <p:sp>
        <p:nvSpPr>
          <p:cNvPr id="30" name="element-50">
            <a:extLst xmlns:a="http://schemas.openxmlformats.org/drawingml/2006/main">
              <a:ext uri="{FF2B5EF4-FFF2-40B4-BE49-F238E27FC236}">
                <a16:creationId xmlns:a16="http://schemas.microsoft.com/office/drawing/2014/main" id="{00195005-EF6A-4F29-B994-E1F76C64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911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rPr>
              <a:t>后续学习</a:t>
            </a:r>
          </a:p>
        </p:txBody>
      </p:sp>
      <p:sp>
        <p:nvSpPr>
          <p:cNvPr id="31" name="element-51">
            <a:extLst xmlns:a="http://schemas.openxmlformats.org/drawingml/2006/main">
              <a:ext uri="{FF2B5EF4-FFF2-40B4-BE49-F238E27FC236}">
                <a16:creationId xmlns:a16="http://schemas.microsoft.com/office/drawing/2014/main" id="{3BC95B6F-6B1A-4421-AC3F-038D3760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00700"/>
            <a:ext cx="615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精益生产、供应链系统、数据分析及综合项目</a:t>
            </a:r>
          </a:p>
        </p:txBody>
      </p:sp>
    </p:spTree>
    <p:extLst>
      <p:ext uri="{BB962C8B-B14F-4D97-AF65-F5344CB8AC3E}">
        <p14:creationId xmlns:p14="http://schemas.microsoft.com/office/powerpoint/2010/main" val="17948017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lement-52">
            <a:extLst xmlns:a="http://schemas.openxmlformats.org/drawingml/2006/main">
              <a:ext uri="{FF2B5EF4-FFF2-40B4-BE49-F238E27FC236}">
                <a16:creationId xmlns:a16="http://schemas.microsoft.com/office/drawing/2014/main" id="{AB454DD7-B886-4CE3-B97C-2EEC2958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已学知识体系与核心收获</a:t>
            </a:r>
          </a:p>
        </p:txBody>
      </p:sp>
      <p:sp>
        <p:nvSpPr>
          <p:cNvPr id="2" name="element-53">
            <a:extLst xmlns:a="http://schemas.openxmlformats.org/drawingml/2006/main">
              <a:ext uri="{FF2B5EF4-FFF2-40B4-BE49-F238E27FC236}">
                <a16:creationId xmlns:a16="http://schemas.microsoft.com/office/drawing/2014/main" id="{BE0BDED2-8A1D-4A62-ACCE-B7352DAE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" name="element-54">
            <a:extLst xmlns:a="http://schemas.openxmlformats.org/drawingml/2006/main">
              <a:ext uri="{FF2B5EF4-FFF2-40B4-BE49-F238E27FC236}">
                <a16:creationId xmlns:a16="http://schemas.microsoft.com/office/drawing/2014/main" id="{102EB51A-1248-4C98-9A82-E0D78337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element-55">
            <a:extLst xmlns:a="http://schemas.openxmlformats.org/drawingml/2006/main">
              <a:ext uri="{FF2B5EF4-FFF2-40B4-BE49-F238E27FC236}">
                <a16:creationId xmlns:a16="http://schemas.microsoft.com/office/drawing/2014/main" id="{02BEC439-D7CA-4E8D-BC15-4C3C8ADF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47800"/>
            <a:ext cx="0" cy="468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5" name="element-56">
            <a:extLst xmlns:a="http://schemas.openxmlformats.org/drawingml/2006/main">
              <a:ext uri="{FF2B5EF4-FFF2-40B4-BE49-F238E27FC236}">
                <a16:creationId xmlns:a16="http://schemas.microsoft.com/office/drawing/2014/main" id="{9D45557F-480D-48A5-B4EA-56571809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基础认知（01–02）</a:t>
            </a:r>
          </a:p>
        </p:txBody>
      </p:sp>
      <p:sp>
        <p:nvSpPr>
          <p:cNvPr id="6" name="element-57">
            <a:extLst xmlns:a="http://schemas.openxmlformats.org/drawingml/2006/main">
              <a:ext uri="{FF2B5EF4-FFF2-40B4-BE49-F238E27FC236}">
                <a16:creationId xmlns:a16="http://schemas.microsoft.com/office/drawing/2014/main" id="{69D40A38-F837-46BA-BE07-B6292A5A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供应链流程、PMC 职责、制造基础数据</a:t>
            </a:r>
          </a:p>
        </p:txBody>
      </p:sp>
      <p:sp>
        <p:nvSpPr>
          <p:cNvPr id="7" name="element-58">
            <a:extLst xmlns:a="http://schemas.openxmlformats.org/drawingml/2006/main">
              <a:ext uri="{FF2B5EF4-FFF2-40B4-BE49-F238E27FC236}">
                <a16:creationId xmlns:a16="http://schemas.microsoft.com/office/drawing/2014/main" id="{A1A46DB0-642A-459B-AF90-148E11D2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9532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59">
            <a:extLst xmlns:a="http://schemas.openxmlformats.org/drawingml/2006/main">
              <a:ext uri="{FF2B5EF4-FFF2-40B4-BE49-F238E27FC236}">
                <a16:creationId xmlns:a16="http://schemas.microsoft.com/office/drawing/2014/main" id="{6372BDDF-F876-406F-B0CC-AF81C935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649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客户预测 / 正式订单</a:t>
            </a:r>
          </a:p>
        </p:txBody>
      </p:sp>
      <p:sp>
        <p:nvSpPr>
          <p:cNvPr id="9" name="element-60">
            <a:extLst xmlns:a="http://schemas.openxmlformats.org/drawingml/2006/main">
              <a:ext uri="{FF2B5EF4-FFF2-40B4-BE49-F238E27FC236}">
                <a16:creationId xmlns:a16="http://schemas.microsoft.com/office/drawing/2014/main" id="{F6B71EB3-752C-4DE1-B6E6-EE03C16D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649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需求管理：区分预测需求和确定性需求</a:t>
            </a:r>
          </a:p>
        </p:txBody>
      </p:sp>
      <p:sp>
        <p:nvSpPr>
          <p:cNvPr id="10" name="element-61">
            <a:extLst xmlns:a="http://schemas.openxmlformats.org/drawingml/2006/main">
              <a:ext uri="{FF2B5EF4-FFF2-40B4-BE49-F238E27FC236}">
                <a16:creationId xmlns:a16="http://schemas.microsoft.com/office/drawing/2014/main" id="{03D05A9F-5028-48C4-9DCE-E8EFA84A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705100"/>
            <a:ext cx="114300" cy="857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lement-62">
            <a:extLst xmlns:a="http://schemas.openxmlformats.org/drawingml/2006/main">
              <a:ext uri="{FF2B5EF4-FFF2-40B4-BE49-F238E27FC236}">
                <a16:creationId xmlns:a16="http://schemas.microsoft.com/office/drawing/2014/main" id="{9007B4A4-A19A-4DD5-B113-ECAC7A60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69532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lement-63">
            <a:extLst xmlns:a="http://schemas.openxmlformats.org/drawingml/2006/main">
              <a:ext uri="{FF2B5EF4-FFF2-40B4-BE49-F238E27FC236}">
                <a16:creationId xmlns:a16="http://schemas.microsoft.com/office/drawing/2014/main" id="{DEB61E68-7CEB-44D1-AAA4-9FD52528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649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S&amp;OP  销售与运营计划</a:t>
            </a:r>
          </a:p>
        </p:txBody>
      </p:sp>
      <p:sp>
        <p:nvSpPr>
          <p:cNvPr id="13" name="element-64">
            <a:extLst xmlns:a="http://schemas.openxmlformats.org/drawingml/2006/main">
              <a:ext uri="{FF2B5EF4-FFF2-40B4-BE49-F238E27FC236}">
                <a16:creationId xmlns:a16="http://schemas.microsoft.com/office/drawing/2014/main" id="{84597047-5241-4C20-B48E-594175FD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649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协调需求、供应、库存与产能</a:t>
            </a:r>
          </a:p>
        </p:txBody>
      </p:sp>
      <p:sp>
        <p:nvSpPr>
          <p:cNvPr id="14" name="element-65">
            <a:extLst xmlns:a="http://schemas.openxmlformats.org/drawingml/2006/main">
              <a:ext uri="{FF2B5EF4-FFF2-40B4-BE49-F238E27FC236}">
                <a16:creationId xmlns:a16="http://schemas.microsoft.com/office/drawing/2014/main" id="{C2D9C940-52DC-4769-A36C-500AF289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562350"/>
            <a:ext cx="114300" cy="857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lement-66">
            <a:extLst xmlns:a="http://schemas.openxmlformats.org/drawingml/2006/main">
              <a:ext uri="{FF2B5EF4-FFF2-40B4-BE49-F238E27FC236}">
                <a16:creationId xmlns:a16="http://schemas.microsoft.com/office/drawing/2014/main" id="{C9F1D597-A07B-41BE-AF3D-B083AED8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69532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lement-67">
            <a:extLst xmlns:a="http://schemas.openxmlformats.org/drawingml/2006/main">
              <a:ext uri="{FF2B5EF4-FFF2-40B4-BE49-F238E27FC236}">
                <a16:creationId xmlns:a16="http://schemas.microsoft.com/office/drawing/2014/main" id="{E31B6022-C96F-4FBE-A689-394DDA26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649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MPS  主生产计划</a:t>
            </a:r>
          </a:p>
        </p:txBody>
      </p:sp>
      <p:sp>
        <p:nvSpPr>
          <p:cNvPr id="17" name="element-68">
            <a:extLst xmlns:a="http://schemas.openxmlformats.org/drawingml/2006/main">
              <a:ext uri="{FF2B5EF4-FFF2-40B4-BE49-F238E27FC236}">
                <a16:creationId xmlns:a16="http://schemas.microsoft.com/office/drawing/2014/main" id="{1F1F605A-8DAC-4931-BC0F-4CA6BF18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649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确定成品生产数量和时间</a:t>
            </a:r>
          </a:p>
        </p:txBody>
      </p:sp>
      <p:sp>
        <p:nvSpPr>
          <p:cNvPr id="18" name="element-69">
            <a:extLst xmlns:a="http://schemas.openxmlformats.org/drawingml/2006/main">
              <a:ext uri="{FF2B5EF4-FFF2-40B4-BE49-F238E27FC236}">
                <a16:creationId xmlns:a16="http://schemas.microsoft.com/office/drawing/2014/main" id="{F74DF10D-FD95-4B19-A723-22593C12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419600"/>
            <a:ext cx="114300" cy="857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lement-70">
            <a:extLst xmlns:a="http://schemas.openxmlformats.org/drawingml/2006/main">
              <a:ext uri="{FF2B5EF4-FFF2-40B4-BE49-F238E27FC236}">
                <a16:creationId xmlns:a16="http://schemas.microsoft.com/office/drawing/2014/main" id="{625EE5E9-48D4-41C9-A58F-517AFCA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9532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lement-71">
            <a:extLst xmlns:a="http://schemas.openxmlformats.org/drawingml/2006/main">
              <a:ext uri="{FF2B5EF4-FFF2-40B4-BE49-F238E27FC236}">
                <a16:creationId xmlns:a16="http://schemas.microsoft.com/office/drawing/2014/main" id="{06426B0D-D89F-4AA2-83A2-D5ADDFF2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649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MRP  物料需求计划</a:t>
            </a:r>
          </a:p>
        </p:txBody>
      </p:sp>
      <p:sp>
        <p:nvSpPr>
          <p:cNvPr id="21" name="element-72">
            <a:extLst xmlns:a="http://schemas.openxmlformats.org/drawingml/2006/main">
              <a:ext uri="{FF2B5EF4-FFF2-40B4-BE49-F238E27FC236}">
                <a16:creationId xmlns:a16="http://schemas.microsoft.com/office/drawing/2014/main" id="{BF20C35F-8FE6-40DE-B66E-348358BD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49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结合 BOM、库存、在途与提前期形成物料需求</a:t>
            </a:r>
          </a:p>
        </p:txBody>
      </p:sp>
      <p:sp>
        <p:nvSpPr>
          <p:cNvPr id="22" name="element-73">
            <a:extLst xmlns:a="http://schemas.openxmlformats.org/drawingml/2006/main">
              <a:ext uri="{FF2B5EF4-FFF2-40B4-BE49-F238E27FC236}">
                <a16:creationId xmlns:a16="http://schemas.microsoft.com/office/drawing/2014/main" id="{2978DA17-497F-4B80-826E-4D8610FA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后续业务</a:t>
            </a:r>
          </a:p>
        </p:txBody>
      </p:sp>
      <p:sp>
        <p:nvSpPr>
          <p:cNvPr id="23" name="element-74">
            <a:extLst xmlns:a="http://schemas.openxmlformats.org/drawingml/2006/main">
              <a:ext uri="{FF2B5EF4-FFF2-40B4-BE49-F238E27FC236}">
                <a16:creationId xmlns:a16="http://schemas.microsoft.com/office/drawing/2014/main" id="{8945EC84-1B03-4C6F-8CA0-D8159E2C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2578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2"/>
            </a:solidFill>
            <a:prstDash val="solid"/>
          </a:ln>
        </p:spPr>
      </p:sp>
      <p:sp>
        <p:nvSpPr>
          <p:cNvPr id="24" name="element-75">
            <a:extLst xmlns:a="http://schemas.openxmlformats.org/drawingml/2006/main">
              <a:ext uri="{FF2B5EF4-FFF2-40B4-BE49-F238E27FC236}">
                <a16:creationId xmlns:a16="http://schemas.microsoft.com/office/drawing/2014/main" id="{3D5B2AA8-9B5F-48AF-B6F9-590C7DC1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7150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2"/>
            </a:solidFill>
            <a:prstDash val="solid"/>
          </a:ln>
        </p:spPr>
      </p:sp>
      <p:sp>
        <p:nvSpPr>
          <p:cNvPr id="25" name="element-76">
            <a:extLst xmlns:a="http://schemas.openxmlformats.org/drawingml/2006/main">
              <a:ext uri="{FF2B5EF4-FFF2-40B4-BE49-F238E27FC236}">
                <a16:creationId xmlns:a16="http://schemas.microsoft.com/office/drawing/2014/main" id="{7D88991A-0056-487D-B1AC-49C97586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6388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2"/>
            </a:solidFill>
            <a:prstDash val="solid"/>
          </a:ln>
        </p:spPr>
      </p:sp>
      <p:sp>
        <p:nvSpPr>
          <p:cNvPr id="26" name="element-77">
            <a:extLst xmlns:a="http://schemas.openxmlformats.org/drawingml/2006/main">
              <a:ext uri="{FF2B5EF4-FFF2-40B4-BE49-F238E27FC236}">
                <a16:creationId xmlns:a16="http://schemas.microsoft.com/office/drawing/2014/main" id="{87B2D13E-04AB-4E3F-A89B-9E8273DE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71500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2"/>
            </a:solidFill>
            <a:prstDash val="solid"/>
          </a:ln>
        </p:spPr>
      </p:sp>
      <p:sp>
        <p:nvSpPr>
          <p:cNvPr id="27" name="element-78">
            <a:extLst xmlns:a="http://schemas.openxmlformats.org/drawingml/2006/main">
              <a:ext uri="{FF2B5EF4-FFF2-40B4-BE49-F238E27FC236}">
                <a16:creationId xmlns:a16="http://schemas.microsoft.com/office/drawing/2014/main" id="{E700EA85-2EE2-493C-963F-569B65D4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2266950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lement-79">
            <a:extLst xmlns:a="http://schemas.openxmlformats.org/drawingml/2006/main">
              <a:ext uri="{FF2B5EF4-FFF2-40B4-BE49-F238E27FC236}">
                <a16:creationId xmlns:a16="http://schemas.microsoft.com/office/drawing/2014/main" id="{D196C760-F82E-44BD-9DCC-63C671AD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采购计划</a:t>
            </a:r>
          </a:p>
        </p:txBody>
      </p:sp>
      <p:sp>
        <p:nvSpPr>
          <p:cNvPr id="29" name="element-80">
            <a:extLst xmlns:a="http://schemas.openxmlformats.org/drawingml/2006/main">
              <a:ext uri="{FF2B5EF4-FFF2-40B4-BE49-F238E27FC236}">
                <a16:creationId xmlns:a16="http://schemas.microsoft.com/office/drawing/2014/main" id="{E477785E-E671-4ABB-9BE4-D1B4858D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71500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2"/>
            </a:solidFill>
            <a:prstDash val="solid"/>
          </a:ln>
        </p:spPr>
      </p:sp>
      <p:sp>
        <p:nvSpPr>
          <p:cNvPr id="30" name="element-81">
            <a:extLst xmlns:a="http://schemas.openxmlformats.org/drawingml/2006/main">
              <a:ext uri="{FF2B5EF4-FFF2-40B4-BE49-F238E27FC236}">
                <a16:creationId xmlns:a16="http://schemas.microsoft.com/office/drawing/2014/main" id="{B2220972-8F0A-4793-83A6-4C5DC7FD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19775"/>
            <a:ext cx="2266950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element-82">
            <a:extLst xmlns:a="http://schemas.openxmlformats.org/drawingml/2006/main">
              <a:ext uri="{FF2B5EF4-FFF2-40B4-BE49-F238E27FC236}">
                <a16:creationId xmlns:a16="http://schemas.microsoft.com/office/drawing/2014/main" id="{C489CA30-B4A5-41CA-9099-1F10BFD9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8578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生产执行</a:t>
            </a:r>
          </a:p>
        </p:txBody>
      </p:sp>
      <p:sp>
        <p:nvSpPr>
          <p:cNvPr id="32" name="element-83">
            <a:extLst xmlns:a="http://schemas.openxmlformats.org/drawingml/2006/main">
              <a:ext uri="{FF2B5EF4-FFF2-40B4-BE49-F238E27FC236}">
                <a16:creationId xmlns:a16="http://schemas.microsoft.com/office/drawing/2014/main" id="{4584DE5C-9BE4-4190-A549-A870AFE2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71500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2"/>
            </a:solidFill>
            <a:prstDash val="solid"/>
          </a:ln>
        </p:spPr>
      </p:sp>
      <p:sp>
        <p:nvSpPr>
          <p:cNvPr id="33" name="element-84">
            <a:extLst xmlns:a="http://schemas.openxmlformats.org/drawingml/2006/main">
              <a:ext uri="{FF2B5EF4-FFF2-40B4-BE49-F238E27FC236}">
                <a16:creationId xmlns:a16="http://schemas.microsoft.com/office/drawing/2014/main" id="{D4A219B8-316E-43E7-BD0F-5160DDBC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819775"/>
            <a:ext cx="2266950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element-85">
            <a:extLst xmlns:a="http://schemas.openxmlformats.org/drawingml/2006/main">
              <a:ext uri="{FF2B5EF4-FFF2-40B4-BE49-F238E27FC236}">
                <a16:creationId xmlns:a16="http://schemas.microsoft.com/office/drawing/2014/main" id="{213B0895-D8E4-4409-8F1A-3C1ED346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8578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物料控制</a:t>
            </a:r>
          </a:p>
        </p:txBody>
      </p:sp>
      <p:sp>
        <p:nvSpPr>
          <p:cNvPr id="35" name="element-86">
            <a:extLst xmlns:a="http://schemas.openxmlformats.org/drawingml/2006/main">
              <a:ext uri="{FF2B5EF4-FFF2-40B4-BE49-F238E27FC236}">
                <a16:creationId xmlns:a16="http://schemas.microsoft.com/office/drawing/2014/main" id="{1DAE6436-85B0-440A-A187-305A21F1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371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核心收获</a:t>
            </a:r>
          </a:p>
        </p:txBody>
      </p:sp>
      <p:sp>
        <p:nvSpPr>
          <p:cNvPr id="36" name="element-87">
            <a:extLst xmlns:a="http://schemas.openxmlformats.org/drawingml/2006/main">
              <a:ext uri="{FF2B5EF4-FFF2-40B4-BE49-F238E27FC236}">
                <a16:creationId xmlns:a16="http://schemas.microsoft.com/office/drawing/2014/main" id="{3DA7D636-3D53-488A-8A57-A87BE0D6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业务认知</a:t>
            </a:r>
          </a:p>
        </p:txBody>
      </p:sp>
      <p:sp>
        <p:nvSpPr>
          <p:cNvPr id="37" name="element-88">
            <a:extLst xmlns:a="http://schemas.openxmlformats.org/drawingml/2006/main">
              <a:ext uri="{FF2B5EF4-FFF2-40B4-BE49-F238E27FC236}">
                <a16:creationId xmlns:a16="http://schemas.microsoft.com/office/drawing/2014/main" id="{C409D317-3369-49F4-83CB-B0CB4704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24125"/>
            <a:ext cx="333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PMC 需要协同管理需求与计划，</a:t>
            </a:r>
          </a:p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并统筹物料和资源。</a:t>
            </a:r>
          </a:p>
        </p:txBody>
      </p:sp>
      <p:sp>
        <p:nvSpPr>
          <p:cNvPr id="38" name="element-89">
            <a:extLst xmlns:a="http://schemas.openxmlformats.org/drawingml/2006/main">
              <a:ext uri="{FF2B5EF4-FFF2-40B4-BE49-F238E27FC236}">
                <a16:creationId xmlns:a16="http://schemas.microsoft.com/office/drawing/2014/main" id="{8DCD09D4-836D-47B7-8311-3E25FFF0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数据认知</a:t>
            </a:r>
          </a:p>
        </p:txBody>
      </p:sp>
      <p:sp>
        <p:nvSpPr>
          <p:cNvPr id="39" name="element-90">
            <a:extLst xmlns:a="http://schemas.openxmlformats.org/drawingml/2006/main">
              <a:ext uri="{FF2B5EF4-FFF2-40B4-BE49-F238E27FC236}">
                <a16:creationId xmlns:a16="http://schemas.microsoft.com/office/drawing/2014/main" id="{A495936B-6688-4CEF-975F-3EFC6101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00475"/>
            <a:ext cx="333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BOM、库存、提前期等数据，</a:t>
            </a:r>
          </a:p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直接影响计划运算结果。</a:t>
            </a:r>
          </a:p>
        </p:txBody>
      </p:sp>
      <p:sp>
        <p:nvSpPr>
          <p:cNvPr id="40" name="element-91">
            <a:extLst xmlns:a="http://schemas.openxmlformats.org/drawingml/2006/main">
              <a:ext uri="{FF2B5EF4-FFF2-40B4-BE49-F238E27FC236}">
                <a16:creationId xmlns:a16="http://schemas.microsoft.com/office/drawing/2014/main" id="{4C3BD83B-5D8B-4448-AEE5-82AF7D2B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4820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管理逻辑</a:t>
            </a:r>
          </a:p>
        </p:txBody>
      </p:sp>
      <p:sp>
        <p:nvSpPr>
          <p:cNvPr id="41" name="element-92">
            <a:extLst xmlns:a="http://schemas.openxmlformats.org/drawingml/2006/main">
              <a:ext uri="{FF2B5EF4-FFF2-40B4-BE49-F238E27FC236}">
                <a16:creationId xmlns:a16="http://schemas.microsoft.com/office/drawing/2014/main" id="{E044E43F-ADE6-46C9-8075-FEF58CB5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76825"/>
            <a:ext cx="333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计划需要兼顾需求满足、</a:t>
            </a:r>
          </a:p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交付风险与资源约束。</a:t>
            </a:r>
          </a:p>
        </p:txBody>
      </p:sp>
    </p:spTree>
    <p:extLst>
      <p:ext uri="{BB962C8B-B14F-4D97-AF65-F5344CB8AC3E}">
        <p14:creationId xmlns:p14="http://schemas.microsoft.com/office/powerpoint/2010/main" val="14924041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lement-93">
            <a:extLst xmlns:a="http://schemas.openxmlformats.org/drawingml/2006/main">
              <a:ext uri="{FF2B5EF4-FFF2-40B4-BE49-F238E27FC236}">
                <a16:creationId xmlns:a16="http://schemas.microsoft.com/office/drawing/2014/main" id="{2AA7DE4A-68F1-4B99-A52B-B205D6F9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AI 工具学习与业务应用探索</a:t>
            </a:r>
          </a:p>
        </p:txBody>
      </p:sp>
      <p:sp>
        <p:nvSpPr>
          <p:cNvPr id="2" name="element-94">
            <a:extLst xmlns:a="http://schemas.openxmlformats.org/drawingml/2006/main">
              <a:ext uri="{FF2B5EF4-FFF2-40B4-BE49-F238E27FC236}">
                <a16:creationId xmlns:a16="http://schemas.microsoft.com/office/drawing/2014/main" id="{996CA80C-2AC6-4FA5-B487-56FAE78A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" name="element-95">
            <a:extLst xmlns:a="http://schemas.openxmlformats.org/drawingml/2006/main">
              <a:ext uri="{FF2B5EF4-FFF2-40B4-BE49-F238E27FC236}">
                <a16:creationId xmlns:a16="http://schemas.microsoft.com/office/drawing/2014/main" id="{C96BE4F9-384C-41DE-9A43-C1954C71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element-96">
            <a:extLst xmlns:a="http://schemas.openxmlformats.org/drawingml/2006/main">
              <a:ext uri="{FF2B5EF4-FFF2-40B4-BE49-F238E27FC236}">
                <a16:creationId xmlns:a16="http://schemas.microsoft.com/office/drawing/2014/main" id="{DA875BD9-90EE-4ABA-BFBC-8105BD6D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工具学习方向</a:t>
            </a:r>
          </a:p>
        </p:txBody>
      </p:sp>
      <p:sp>
        <p:nvSpPr>
          <p:cNvPr id="5" name="element-97">
            <a:extLst xmlns:a="http://schemas.openxmlformats.org/drawingml/2006/main">
              <a:ext uri="{FF2B5EF4-FFF2-40B4-BE49-F238E27FC236}">
                <a16:creationId xmlns:a16="http://schemas.microsoft.com/office/drawing/2014/main" id="{E16C493F-6478-4C2C-BC9B-808D6DB8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47800"/>
            <a:ext cx="0" cy="438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6" name="element-98">
            <a:extLst xmlns:a="http://schemas.openxmlformats.org/drawingml/2006/main">
              <a:ext uri="{FF2B5EF4-FFF2-40B4-BE49-F238E27FC236}">
                <a16:creationId xmlns:a16="http://schemas.microsoft.com/office/drawing/2014/main" id="{E9D7480D-5FD2-4E29-A0A4-33ABBE04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AI 知识辅助</a:t>
            </a:r>
          </a:p>
        </p:txBody>
      </p:sp>
      <p:sp>
        <p:nvSpPr>
          <p:cNvPr id="7" name="element-99">
            <a:extLst xmlns:a="http://schemas.openxmlformats.org/drawingml/2006/main">
              <a:ext uri="{FF2B5EF4-FFF2-40B4-BE49-F238E27FC236}">
                <a16:creationId xmlns:a16="http://schemas.microsoft.com/office/drawing/2014/main" id="{DBC2DB69-BA92-4AEC-A70D-A35AC3AD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933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知识检索、归纳总结</a:t>
            </a:r>
          </a:p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学习辅助</a:t>
            </a:r>
          </a:p>
        </p:txBody>
      </p:sp>
      <p:sp>
        <p:nvSpPr>
          <p:cNvPr id="8" name="element-100">
            <a:extLst xmlns:a="http://schemas.openxmlformats.org/drawingml/2006/main">
              <a:ext uri="{FF2B5EF4-FFF2-40B4-BE49-F238E27FC236}">
                <a16:creationId xmlns:a16="http://schemas.microsoft.com/office/drawing/2014/main" id="{7AA68CC8-9980-4D06-9592-175C785D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工具示例：ChatGPT、Codex</a:t>
            </a:r>
          </a:p>
        </p:txBody>
      </p:sp>
      <p:sp>
        <p:nvSpPr>
          <p:cNvPr id="9" name="element-101">
            <a:extLst xmlns:a="http://schemas.openxmlformats.org/drawingml/2006/main">
              <a:ext uri="{FF2B5EF4-FFF2-40B4-BE49-F238E27FC236}">
                <a16:creationId xmlns:a16="http://schemas.microsoft.com/office/drawing/2014/main" id="{D26C9A6C-BC0C-4977-936A-29D2DD57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Agent 与工作流</a:t>
            </a:r>
          </a:p>
        </p:txBody>
      </p:sp>
      <p:sp>
        <p:nvSpPr>
          <p:cNvPr id="10" name="element-102">
            <a:extLst xmlns:a="http://schemas.openxmlformats.org/drawingml/2006/main">
              <a:ext uri="{FF2B5EF4-FFF2-40B4-BE49-F238E27FC236}">
                <a16:creationId xmlns:a16="http://schemas.microsoft.com/office/drawing/2014/main" id="{BC34B13B-D142-4D62-84BE-FAF7752D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2933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Skill、MCP、工具调用</a:t>
            </a:r>
          </a:p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自动化流程探索</a:t>
            </a:r>
          </a:p>
        </p:txBody>
      </p:sp>
      <p:sp>
        <p:nvSpPr>
          <p:cNvPr id="11" name="element-103">
            <a:extLst xmlns:a="http://schemas.openxmlformats.org/drawingml/2006/main">
              <a:ext uri="{FF2B5EF4-FFF2-40B4-BE49-F238E27FC236}">
                <a16:creationId xmlns:a16="http://schemas.microsoft.com/office/drawing/2014/main" id="{5DAB7C73-11DE-419D-9C67-EEC61719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47800"/>
            <a:ext cx="741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潜在业务应用</a:t>
            </a:r>
          </a:p>
        </p:txBody>
      </p:sp>
      <p:sp>
        <p:nvSpPr>
          <p:cNvPr id="12" name="element-104">
            <a:extLst xmlns:a="http://schemas.openxmlformats.org/drawingml/2006/main">
              <a:ext uri="{FF2B5EF4-FFF2-40B4-BE49-F238E27FC236}">
                <a16:creationId xmlns:a16="http://schemas.microsoft.com/office/drawing/2014/main" id="{10CF3798-BBE6-4801-8EF7-FDB3C5B4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66900"/>
            <a:ext cx="7410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584"/>
                </a:solidFill>
                <a:latin typeface="Microsoft YaHei"/>
                <a:ea typeface="Microsoft YaHei"/>
                <a:cs typeface="Microsoft YaHei"/>
              </a:rPr>
              <a:t>候选场景，待业务验证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F8313-FD0E-4D4C-B0D3-996582E51AFF}"/>
              </a:ext>
            </a:extLst>
          </p:cNvPr>
          <p:cNvGraphicFramePr/>
          <p:nvPr/>
        </p:nvGraphicFramePr>
        <p:xfrm>
          <a:off xmlns:a="http://schemas.openxmlformats.org/drawingml/2006/main" x="4171950" y="2324100"/>
          <a:ext xmlns:a="http://schemas.openxmlformats.org/drawingml/2006/main" cx="7410450" cy="3543300"/>
        </p:xfrm>
        <a:graphic xmlns:a="http://schemas.openxmlformats.org/drawingml/2006/main">
          <a:graphicData uri="http://schemas.openxmlformats.org/drawingml/2006/table">
            <a:tbl>
              <a:tblPr firstRow="0" firstCol="0" lastCol="0" bandRow="0"/>
              <a:tblGrid>
                <a:gridCol w="1524000"/>
                <a:gridCol w="5886450"/>
              </a:tblGrid>
              <a:tr h="4572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01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应用方向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01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候选场景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  <a:tr h="7429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数据处理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Excel 数据整理、数据清洗与报表生成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业务分析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库存、缺料与交付异常的辅助分析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智能化辅助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知识问答、流程指引与信息提取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业务提效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针对重复工作流程，探索资料自动汇总、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核对与流转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2700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lement-105">
            <a:extLst xmlns:a="http://schemas.openxmlformats.org/drawingml/2006/main">
              <a:ext uri="{FF2B5EF4-FFF2-40B4-BE49-F238E27FC236}">
                <a16:creationId xmlns:a16="http://schemas.microsoft.com/office/drawing/2014/main" id="{616FB0E4-9C81-4D54-B07A-C57EEAA2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下一阶段学习与工作规划</a:t>
            </a:r>
          </a:p>
        </p:txBody>
      </p:sp>
      <p:sp>
        <p:nvSpPr>
          <p:cNvPr id="2" name="element-106">
            <a:extLst xmlns:a="http://schemas.openxmlformats.org/drawingml/2006/main">
              <a:ext uri="{FF2B5EF4-FFF2-40B4-BE49-F238E27FC236}">
                <a16:creationId xmlns:a16="http://schemas.microsoft.com/office/drawing/2014/main" id="{2478B694-A109-43C7-9C0B-6CCDF9A8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" name="element-107">
            <a:extLst xmlns:a="http://schemas.openxmlformats.org/drawingml/2006/main">
              <a:ext uri="{FF2B5EF4-FFF2-40B4-BE49-F238E27FC236}">
                <a16:creationId xmlns:a16="http://schemas.microsoft.com/office/drawing/2014/main" id="{AF539E00-2CC3-455F-87A0-BDA7854B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D9BA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96DF2-E61D-4DDB-9882-A31541DFEDC0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0" firstCol="0" lastCol="0" bandRow="0"/>
              <a:tblGrid>
                <a:gridCol w="1276350"/>
                <a:gridCol w="4848225"/>
                <a:gridCol w="4848225"/>
              </a:tblGrid>
              <a:tr h="47625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01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01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PMC 业务学习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01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应用探索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T w="9525">
                      <a:solidFill>
                        <a:srgbClr val="DCE4EB"/>
                      </a:solidFill>
                      <a:prstDash val="solid"/>
                    </a:lnT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  <a:tr h="9906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完成阶段练习与复盘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学习产能、库存、采购与物料控制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深化 AI 工具与工作流应用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中期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生产控制、排程、精益生产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选择具体业务场景开展验证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后期</a:t>
                      </a:r>
                    </a:p>
                  </a:txBody>
                  <a:tcPr marL="190500" marR="171450" marT="114300" marB="114300" anchor="ctr">
                    <a:lnL w="9525">
                      <a:solidFill>
                        <a:srgbClr val="DCE4EB"/>
                      </a:solidFill>
                      <a:prstDash val="solid"/>
                    </a:lnL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供应链系统、数据分析、综合项目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432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探索辅助分析工具或自动化方案</a:t>
                      </a:r>
                    </a:p>
                  </a:txBody>
                  <a:tcPr marL="190500" marR="171450" marT="114300" marB="114300" anchor="ctr">
                    <a:lnR w="9525">
                      <a:solidFill>
                        <a:srgbClr val="DCE4EB"/>
                      </a:solidFill>
                      <a:prstDash val="solid"/>
                    </a:lnR>
                    <a:lnB w="9525">
                      <a:solidFill>
                        <a:srgbClr val="DC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lement-108">
            <a:extLst xmlns:a="http://schemas.openxmlformats.org/drawingml/2006/main">
              <a:ext uri="{FF2B5EF4-FFF2-40B4-BE49-F238E27FC236}">
                <a16:creationId xmlns:a16="http://schemas.microsoft.com/office/drawing/2014/main" id="{9732CD1F-0D31-4867-84D4-44F49B20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F35"/>
                </a:solidFill>
                <a:latin typeface="Microsoft YaHei"/>
                <a:ea typeface="Microsoft YaHei"/>
                <a:cs typeface="Microsoft YaHei"/>
              </a:rPr>
              <a:t>预期交付</a:t>
            </a:r>
          </a:p>
        </p:txBody>
      </p:sp>
      <p:sp>
        <p:nvSpPr>
          <p:cNvPr id="6" name="element-109">
            <a:extLst xmlns:a="http://schemas.openxmlformats.org/drawingml/2006/main">
              <a:ext uri="{FF2B5EF4-FFF2-40B4-BE49-F238E27FC236}">
                <a16:creationId xmlns:a16="http://schemas.microsoft.com/office/drawing/2014/main" id="{C940D698-F2B8-47CC-9137-CE66FEF0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学习资料</a:t>
            </a:r>
          </a:p>
        </p:txBody>
      </p:sp>
      <p:sp>
        <p:nvSpPr>
          <p:cNvPr id="7" name="element-110">
            <a:extLst xmlns:a="http://schemas.openxmlformats.org/drawingml/2006/main">
              <a:ext uri="{FF2B5EF4-FFF2-40B4-BE49-F238E27FC236}">
                <a16:creationId xmlns:a16="http://schemas.microsoft.com/office/drawing/2014/main" id="{683807A3-D21D-49F2-93B5-44296DC4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PMC 学习笔记与知识框架</a:t>
            </a:r>
          </a:p>
        </p:txBody>
      </p:sp>
      <p:sp>
        <p:nvSpPr>
          <p:cNvPr id="8" name="element-111">
            <a:extLst xmlns:a="http://schemas.openxmlformats.org/drawingml/2006/main">
              <a:ext uri="{FF2B5EF4-FFF2-40B4-BE49-F238E27FC236}">
                <a16:creationId xmlns:a16="http://schemas.microsoft.com/office/drawing/2014/main" id="{E2A633DC-46B9-46B1-9B23-8FFC0429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05475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element-112">
            <a:extLst xmlns:a="http://schemas.openxmlformats.org/drawingml/2006/main">
              <a:ext uri="{FF2B5EF4-FFF2-40B4-BE49-F238E27FC236}">
                <a16:creationId xmlns:a16="http://schemas.microsoft.com/office/drawing/2014/main" id="{4A0813BC-2E82-4B4C-8EE6-893A32AB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9595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综合案例</a:t>
            </a:r>
          </a:p>
        </p:txBody>
      </p:sp>
      <p:sp>
        <p:nvSpPr>
          <p:cNvPr id="10" name="element-113">
            <a:extLst xmlns:a="http://schemas.openxmlformats.org/drawingml/2006/main">
              <a:ext uri="{FF2B5EF4-FFF2-40B4-BE49-F238E27FC236}">
                <a16:creationId xmlns:a16="http://schemas.microsoft.com/office/drawing/2014/main" id="{E34306D3-7D21-4079-B3A4-52468160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6742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汽车线束业务综合计划分析</a:t>
            </a:r>
          </a:p>
        </p:txBody>
      </p:sp>
      <p:sp>
        <p:nvSpPr>
          <p:cNvPr id="11" name="element-114">
            <a:extLst xmlns:a="http://schemas.openxmlformats.org/drawingml/2006/main">
              <a:ext uri="{FF2B5EF4-FFF2-40B4-BE49-F238E27FC236}">
                <a16:creationId xmlns:a16="http://schemas.microsoft.com/office/drawing/2014/main" id="{49FFFBDC-334C-497C-8B76-8F52086F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705475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2" name="element-115">
            <a:extLst xmlns:a="http://schemas.openxmlformats.org/drawingml/2006/main">
              <a:ext uri="{FF2B5EF4-FFF2-40B4-BE49-F238E27FC236}">
                <a16:creationId xmlns:a16="http://schemas.microsoft.com/office/drawing/2014/main" id="{C54CBDF3-FD19-499B-B3E3-19B75346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9595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87D0"/>
                </a:solidFill>
                <a:latin typeface="Microsoft YaHei"/>
                <a:ea typeface="Microsoft YaHei"/>
                <a:cs typeface="Microsoft YaHei"/>
              </a:rPr>
              <a:t>应用原型</a:t>
            </a:r>
          </a:p>
        </p:txBody>
      </p:sp>
      <p:sp>
        <p:nvSpPr>
          <p:cNvPr id="13" name="element-116">
            <a:extLst xmlns:a="http://schemas.openxmlformats.org/drawingml/2006/main">
              <a:ext uri="{FF2B5EF4-FFF2-40B4-BE49-F238E27FC236}">
                <a16:creationId xmlns:a16="http://schemas.microsoft.com/office/drawing/2014/main" id="{EF9AFE7F-F938-4E7F-8448-38D6AB2C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06742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247"/>
                </a:solidFill>
                <a:latin typeface="Microsoft YaHei"/>
                <a:ea typeface="Microsoft YaHei"/>
                <a:cs typeface="Microsoft YaHei"/>
              </a:rPr>
              <a:t>AI 辅助分析或流程自动化原型</a:t>
            </a:r>
          </a:p>
        </p:txBody>
      </p:sp>
    </p:spTree>
    <p:extLst>
      <p:ext uri="{BB962C8B-B14F-4D97-AF65-F5344CB8AC3E}">
        <p14:creationId xmlns:p14="http://schemas.microsoft.com/office/powerpoint/2010/main" val="18709437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2026-10-20T08:41:22.1360000Z</dcterms:created>
  <dcterms:modified xsi:type="dcterms:W3CDTF">2026-10-20T08:41:22.1360000Z</dcterms:modified>
</coreProperties>
</file>